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6"/>
  </p:notesMasterIdLst>
  <p:handoutMasterIdLst>
    <p:handoutMasterId r:id="rId27"/>
  </p:handoutMasterIdLst>
  <p:sldIdLst>
    <p:sldId id="256" r:id="rId5"/>
    <p:sldId id="277" r:id="rId6"/>
    <p:sldId id="295" r:id="rId7"/>
    <p:sldId id="294" r:id="rId8"/>
    <p:sldId id="297" r:id="rId9"/>
    <p:sldId id="296" r:id="rId10"/>
    <p:sldId id="266" r:id="rId11"/>
    <p:sldId id="299" r:id="rId12"/>
    <p:sldId id="298" r:id="rId13"/>
    <p:sldId id="300" r:id="rId14"/>
    <p:sldId id="301" r:id="rId15"/>
    <p:sldId id="261" r:id="rId16"/>
    <p:sldId id="303" r:id="rId17"/>
    <p:sldId id="262" r:id="rId18"/>
    <p:sldId id="304" r:id="rId19"/>
    <p:sldId id="305" r:id="rId20"/>
    <p:sldId id="302" r:id="rId21"/>
    <p:sldId id="278" r:id="rId22"/>
    <p:sldId id="289" r:id="rId23"/>
    <p:sldId id="258" r:id="rId24"/>
    <p:sldId id="276" r:id="rId25"/>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973014-94FF-4EC7-AA7C-77E9B45E1EB8}" v="133" dt="2025-10-20T08:31:16.2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6" y="1080"/>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49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245C065-7973-41A8-A2CC-441A8BA3384C}" type="datetime1">
              <a:rPr lang="en-GB" smtClean="0"/>
              <a:t>20/10/2025</a:t>
            </a:fld>
            <a:endParaRPr lang="en-GB"/>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n-GB" smtClean="0"/>
              <a:t>‹#›</a:t>
            </a:fld>
            <a:endParaRPr lang="en-GB"/>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87A586-3225-45EC-B90F-43F9676D14C2}" type="datetime1">
              <a:rPr lang="en-GB" smtClean="0"/>
              <a:pPr/>
              <a:t>20/10/2025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n-GB" noProof="0" smtClean="0"/>
              <a:t>‹#›</a:t>
            </a:fld>
            <a:endParaRPr lang="en-GB"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a:t>
            </a:fld>
            <a:endParaRPr lang="en-GB"/>
          </a:p>
        </p:txBody>
      </p:sp>
    </p:spTree>
    <p:extLst>
      <p:ext uri="{BB962C8B-B14F-4D97-AF65-F5344CB8AC3E}">
        <p14:creationId xmlns:p14="http://schemas.microsoft.com/office/powerpoint/2010/main" val="2772334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a:t>
            </a:fld>
            <a:endParaRPr lang="en-GB"/>
          </a:p>
        </p:txBody>
      </p:sp>
    </p:spTree>
    <p:extLst>
      <p:ext uri="{BB962C8B-B14F-4D97-AF65-F5344CB8AC3E}">
        <p14:creationId xmlns:p14="http://schemas.microsoft.com/office/powerpoint/2010/main" val="1202913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6D4C4-4967-5541-61F8-E3D57CD6D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1778A-B731-A88A-135E-D5996D52152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32E5B5E-71D7-06B5-64AD-5800B5A65CF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CAE4C86-EB98-4821-5150-E2E4071E05B7}"/>
              </a:ext>
            </a:extLst>
          </p:cNvPr>
          <p:cNvSpPr>
            <a:spLocks noGrp="1"/>
          </p:cNvSpPr>
          <p:nvPr>
            <p:ph type="sldNum" sz="quarter" idx="5"/>
          </p:nvPr>
        </p:nvSpPr>
        <p:spPr/>
        <p:txBody>
          <a:bodyPr/>
          <a:lstStyle/>
          <a:p>
            <a:pPr rtl="0"/>
            <a:fld id="{D4B9A9E5-4F7F-4A7D-9DE1-899232329269}" type="slidenum">
              <a:rPr lang="en-GB" smtClean="0"/>
              <a:t>3</a:t>
            </a:fld>
            <a:endParaRPr lang="en-GB"/>
          </a:p>
        </p:txBody>
      </p:sp>
    </p:spTree>
    <p:extLst>
      <p:ext uri="{BB962C8B-B14F-4D97-AF65-F5344CB8AC3E}">
        <p14:creationId xmlns:p14="http://schemas.microsoft.com/office/powerpoint/2010/main" val="130797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608A4-76A7-21B4-6F44-3E5EA9C08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734E2-AD72-8DC6-B81A-C6FB8631B37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F6BAF5D-4E39-BB25-1167-7510AF8937D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95A6D97-E65F-072F-3933-E75472C5FCFF}"/>
              </a:ext>
            </a:extLst>
          </p:cNvPr>
          <p:cNvSpPr>
            <a:spLocks noGrp="1"/>
          </p:cNvSpPr>
          <p:nvPr>
            <p:ph type="sldNum" sz="quarter" idx="5"/>
          </p:nvPr>
        </p:nvSpPr>
        <p:spPr/>
        <p:txBody>
          <a:bodyPr/>
          <a:lstStyle/>
          <a:p>
            <a:pPr rtl="0"/>
            <a:fld id="{D4B9A9E5-4F7F-4A7D-9DE1-899232329269}" type="slidenum">
              <a:rPr lang="en-GB" smtClean="0"/>
              <a:t>4</a:t>
            </a:fld>
            <a:endParaRPr lang="en-GB"/>
          </a:p>
        </p:txBody>
      </p:sp>
    </p:spTree>
    <p:extLst>
      <p:ext uri="{BB962C8B-B14F-4D97-AF65-F5344CB8AC3E}">
        <p14:creationId xmlns:p14="http://schemas.microsoft.com/office/powerpoint/2010/main" val="1936846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6928F-84F2-C502-2E20-48D820B1C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F6323-B78B-DA02-C08E-3A0DF9E7271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5549D70-3BDD-5F41-8942-DFDD977BBE3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2D248B0-FFDB-D80E-09E8-B3B7E656EA1C}"/>
              </a:ext>
            </a:extLst>
          </p:cNvPr>
          <p:cNvSpPr>
            <a:spLocks noGrp="1"/>
          </p:cNvSpPr>
          <p:nvPr>
            <p:ph type="sldNum" sz="quarter" idx="5"/>
          </p:nvPr>
        </p:nvSpPr>
        <p:spPr/>
        <p:txBody>
          <a:bodyPr/>
          <a:lstStyle/>
          <a:p>
            <a:pPr rtl="0"/>
            <a:fld id="{D4B9A9E5-4F7F-4A7D-9DE1-899232329269}" type="slidenum">
              <a:rPr lang="en-GB" smtClean="0"/>
              <a:t>5</a:t>
            </a:fld>
            <a:endParaRPr lang="en-GB"/>
          </a:p>
        </p:txBody>
      </p:sp>
    </p:spTree>
    <p:extLst>
      <p:ext uri="{BB962C8B-B14F-4D97-AF65-F5344CB8AC3E}">
        <p14:creationId xmlns:p14="http://schemas.microsoft.com/office/powerpoint/2010/main" val="3013640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887FC-2C5B-8DA9-D417-C775F16C8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344EF-BC0C-1954-4F8F-2955D6A50ED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F1EDD72-D180-CE70-9C6F-75017462CC1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B83634B-DBA7-91A8-C505-BD992AF949D1}"/>
              </a:ext>
            </a:extLst>
          </p:cNvPr>
          <p:cNvSpPr>
            <a:spLocks noGrp="1"/>
          </p:cNvSpPr>
          <p:nvPr>
            <p:ph type="sldNum" sz="quarter" idx="5"/>
          </p:nvPr>
        </p:nvSpPr>
        <p:spPr/>
        <p:txBody>
          <a:bodyPr/>
          <a:lstStyle/>
          <a:p>
            <a:pPr rtl="0"/>
            <a:fld id="{D4B9A9E5-4F7F-4A7D-9DE1-899232329269}" type="slidenum">
              <a:rPr lang="en-GB" smtClean="0"/>
              <a:t>6</a:t>
            </a:fld>
            <a:endParaRPr lang="en-GB"/>
          </a:p>
        </p:txBody>
      </p:sp>
    </p:spTree>
    <p:extLst>
      <p:ext uri="{BB962C8B-B14F-4D97-AF65-F5344CB8AC3E}">
        <p14:creationId xmlns:p14="http://schemas.microsoft.com/office/powerpoint/2010/main" val="1544279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7</a:t>
            </a:fld>
            <a:endParaRPr lang="en-GB"/>
          </a:p>
        </p:txBody>
      </p:sp>
    </p:spTree>
    <p:extLst>
      <p:ext uri="{BB962C8B-B14F-4D97-AF65-F5344CB8AC3E}">
        <p14:creationId xmlns:p14="http://schemas.microsoft.com/office/powerpoint/2010/main" val="2281875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BB772-7427-5DD8-9E96-B3C1B8DC6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241E83-1A8D-505F-427F-43DDF2919E2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CDC621A-6740-C564-4B61-B9FF34C4AF5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9524D3C-98F8-E10E-63F5-073DEF78EE72}"/>
              </a:ext>
            </a:extLst>
          </p:cNvPr>
          <p:cNvSpPr>
            <a:spLocks noGrp="1"/>
          </p:cNvSpPr>
          <p:nvPr>
            <p:ph type="sldNum" sz="quarter" idx="5"/>
          </p:nvPr>
        </p:nvSpPr>
        <p:spPr/>
        <p:txBody>
          <a:bodyPr/>
          <a:lstStyle/>
          <a:p>
            <a:pPr rtl="0"/>
            <a:fld id="{D4B9A9E5-4F7F-4A7D-9DE1-899232329269}" type="slidenum">
              <a:rPr lang="en-GB" smtClean="0"/>
              <a:t>8</a:t>
            </a:fld>
            <a:endParaRPr lang="en-GB"/>
          </a:p>
        </p:txBody>
      </p:sp>
    </p:spTree>
    <p:extLst>
      <p:ext uri="{BB962C8B-B14F-4D97-AF65-F5344CB8AC3E}">
        <p14:creationId xmlns:p14="http://schemas.microsoft.com/office/powerpoint/2010/main" val="694227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BC794-3C67-9F88-2B47-0E3B5A6A6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EB7C9-EC4B-8A6B-35EA-FD70D60BAD9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55170AC-849C-082B-4C2A-9CD4A1FA516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6EBFB03-C525-1718-91B0-B651BFD9B4BF}"/>
              </a:ext>
            </a:extLst>
          </p:cNvPr>
          <p:cNvSpPr>
            <a:spLocks noGrp="1"/>
          </p:cNvSpPr>
          <p:nvPr>
            <p:ph type="sldNum" sz="quarter" idx="5"/>
          </p:nvPr>
        </p:nvSpPr>
        <p:spPr/>
        <p:txBody>
          <a:bodyPr/>
          <a:lstStyle/>
          <a:p>
            <a:pPr rtl="0"/>
            <a:fld id="{D4B9A9E5-4F7F-4A7D-9DE1-899232329269}" type="slidenum">
              <a:rPr lang="en-GB" smtClean="0"/>
              <a:t>9</a:t>
            </a:fld>
            <a:endParaRPr lang="en-GB"/>
          </a:p>
        </p:txBody>
      </p:sp>
    </p:spTree>
    <p:extLst>
      <p:ext uri="{BB962C8B-B14F-4D97-AF65-F5344CB8AC3E}">
        <p14:creationId xmlns:p14="http://schemas.microsoft.com/office/powerpoint/2010/main" val="1504375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75090-6B50-374D-EE85-AE3A433FF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0C37C-3FE8-F827-0322-F1811AFB536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23B5ED4-DF64-F961-8D65-18C723DB22C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25757EB-220A-6BE8-4C16-9DC86B0BC498}"/>
              </a:ext>
            </a:extLst>
          </p:cNvPr>
          <p:cNvSpPr>
            <a:spLocks noGrp="1"/>
          </p:cNvSpPr>
          <p:nvPr>
            <p:ph type="sldNum" sz="quarter" idx="5"/>
          </p:nvPr>
        </p:nvSpPr>
        <p:spPr/>
        <p:txBody>
          <a:bodyPr/>
          <a:lstStyle/>
          <a:p>
            <a:pPr rtl="0"/>
            <a:fld id="{D4B9A9E5-4F7F-4A7D-9DE1-899232329269}" type="slidenum">
              <a:rPr lang="en-GB" smtClean="0"/>
              <a:t>10</a:t>
            </a:fld>
            <a:endParaRPr lang="en-GB"/>
          </a:p>
        </p:txBody>
      </p:sp>
    </p:spTree>
    <p:extLst>
      <p:ext uri="{BB962C8B-B14F-4D97-AF65-F5344CB8AC3E}">
        <p14:creationId xmlns:p14="http://schemas.microsoft.com/office/powerpoint/2010/main" val="3582053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973DE-16CE-2DFD-10C6-CCE041C67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F3F83-2F40-9A52-E393-AE8D76B607B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BA862E3-0F7F-FCA1-FF33-0CD1807097B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35E43D2-CB30-2443-6657-63C4B87DD137}"/>
              </a:ext>
            </a:extLst>
          </p:cNvPr>
          <p:cNvSpPr>
            <a:spLocks noGrp="1"/>
          </p:cNvSpPr>
          <p:nvPr>
            <p:ph type="sldNum" sz="quarter" idx="5"/>
          </p:nvPr>
        </p:nvSpPr>
        <p:spPr/>
        <p:txBody>
          <a:bodyPr/>
          <a:lstStyle/>
          <a:p>
            <a:pPr rtl="0"/>
            <a:fld id="{D4B9A9E5-4F7F-4A7D-9DE1-899232329269}" type="slidenum">
              <a:rPr lang="en-GB" smtClean="0"/>
              <a:t>11</a:t>
            </a:fld>
            <a:endParaRPr lang="en-GB"/>
          </a:p>
        </p:txBody>
      </p:sp>
    </p:spTree>
    <p:extLst>
      <p:ext uri="{BB962C8B-B14F-4D97-AF65-F5344CB8AC3E}">
        <p14:creationId xmlns:p14="http://schemas.microsoft.com/office/powerpoint/2010/main" val="165655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12</a:t>
            </a:fld>
            <a:endParaRPr lang="en-GB"/>
          </a:p>
        </p:txBody>
      </p:sp>
    </p:spTree>
    <p:extLst>
      <p:ext uri="{BB962C8B-B14F-4D97-AF65-F5344CB8AC3E}">
        <p14:creationId xmlns:p14="http://schemas.microsoft.com/office/powerpoint/2010/main" val="798085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91F97-A1F6-2774-299A-2E6129EBF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56DC2-6F29-009C-6CAC-1875D598ECE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4447B54-173C-027F-015C-C16DFF494CE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A618A7E-D608-E3B4-672A-F470FCE65BE4}"/>
              </a:ext>
            </a:extLst>
          </p:cNvPr>
          <p:cNvSpPr>
            <a:spLocks noGrp="1"/>
          </p:cNvSpPr>
          <p:nvPr>
            <p:ph type="sldNum" sz="quarter" idx="5"/>
          </p:nvPr>
        </p:nvSpPr>
        <p:spPr/>
        <p:txBody>
          <a:bodyPr/>
          <a:lstStyle/>
          <a:p>
            <a:pPr rtl="0"/>
            <a:fld id="{D4B9A9E5-4F7F-4A7D-9DE1-899232329269}" type="slidenum">
              <a:rPr lang="en-GB" smtClean="0"/>
              <a:t>13</a:t>
            </a:fld>
            <a:endParaRPr lang="en-GB"/>
          </a:p>
        </p:txBody>
      </p:sp>
    </p:spTree>
    <p:extLst>
      <p:ext uri="{BB962C8B-B14F-4D97-AF65-F5344CB8AC3E}">
        <p14:creationId xmlns:p14="http://schemas.microsoft.com/office/powerpoint/2010/main" val="3967198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D4B9A9E5-4F7F-4A7D-9DE1-899232329269}" type="slidenum">
              <a:rPr lang="en-GB" smtClean="0"/>
              <a:t>14</a:t>
            </a:fld>
            <a:endParaRPr lang="en-GB"/>
          </a:p>
        </p:txBody>
      </p:sp>
    </p:spTree>
    <p:extLst>
      <p:ext uri="{BB962C8B-B14F-4D97-AF65-F5344CB8AC3E}">
        <p14:creationId xmlns:p14="http://schemas.microsoft.com/office/powerpoint/2010/main" val="3886065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A2F6C-D0E0-E4C6-501A-72749BF27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B49D-9591-81B2-D7CA-B0A35F38E54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DC714A9-334D-DC39-D34F-62DE7242EEDB}"/>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BABBDA3E-966D-A123-1F00-0A38032F9B6F}"/>
              </a:ext>
            </a:extLst>
          </p:cNvPr>
          <p:cNvSpPr>
            <a:spLocks noGrp="1"/>
          </p:cNvSpPr>
          <p:nvPr>
            <p:ph type="sldNum" sz="quarter" idx="5"/>
          </p:nvPr>
        </p:nvSpPr>
        <p:spPr/>
        <p:txBody>
          <a:bodyPr rtlCol="0"/>
          <a:lstStyle/>
          <a:p>
            <a:pPr rtl="0"/>
            <a:fld id="{D4B9A9E5-4F7F-4A7D-9DE1-899232329269}" type="slidenum">
              <a:rPr lang="en-GB" smtClean="0"/>
              <a:t>15</a:t>
            </a:fld>
            <a:endParaRPr lang="en-GB"/>
          </a:p>
        </p:txBody>
      </p:sp>
    </p:spTree>
    <p:extLst>
      <p:ext uri="{BB962C8B-B14F-4D97-AF65-F5344CB8AC3E}">
        <p14:creationId xmlns:p14="http://schemas.microsoft.com/office/powerpoint/2010/main" val="2461517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BAF46-E290-A19A-525E-520323EB8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5280D-64AE-5B29-E7CE-2D09BF5351F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EDE84B2-41FB-3A2B-3E4D-85A4A838214E}"/>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07871652-115C-2128-62A6-ABF0EA503833}"/>
              </a:ext>
            </a:extLst>
          </p:cNvPr>
          <p:cNvSpPr>
            <a:spLocks noGrp="1"/>
          </p:cNvSpPr>
          <p:nvPr>
            <p:ph type="sldNum" sz="quarter" idx="5"/>
          </p:nvPr>
        </p:nvSpPr>
        <p:spPr/>
        <p:txBody>
          <a:bodyPr rtlCol="0"/>
          <a:lstStyle/>
          <a:p>
            <a:pPr rtl="0"/>
            <a:fld id="{D4B9A9E5-4F7F-4A7D-9DE1-899232329269}" type="slidenum">
              <a:rPr lang="en-GB" smtClean="0"/>
              <a:t>16</a:t>
            </a:fld>
            <a:endParaRPr lang="en-GB"/>
          </a:p>
        </p:txBody>
      </p:sp>
    </p:spTree>
    <p:extLst>
      <p:ext uri="{BB962C8B-B14F-4D97-AF65-F5344CB8AC3E}">
        <p14:creationId xmlns:p14="http://schemas.microsoft.com/office/powerpoint/2010/main" val="3768666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ED616-4585-BA18-6883-78E55BE77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C87AE-5A11-11B7-4899-3E67DCD0B85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2687B13-BBF0-6A48-9A1D-8C86D4DB05D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61178B4-0669-9AD8-C27E-B41446684CD2}"/>
              </a:ext>
            </a:extLst>
          </p:cNvPr>
          <p:cNvSpPr>
            <a:spLocks noGrp="1"/>
          </p:cNvSpPr>
          <p:nvPr>
            <p:ph type="sldNum" sz="quarter" idx="5"/>
          </p:nvPr>
        </p:nvSpPr>
        <p:spPr/>
        <p:txBody>
          <a:bodyPr/>
          <a:lstStyle/>
          <a:p>
            <a:pPr rtl="0"/>
            <a:fld id="{D4B9A9E5-4F7F-4A7D-9DE1-899232329269}" type="slidenum">
              <a:rPr lang="en-GB" smtClean="0"/>
              <a:t>17</a:t>
            </a:fld>
            <a:endParaRPr lang="en-GB"/>
          </a:p>
        </p:txBody>
      </p:sp>
    </p:spTree>
    <p:extLst>
      <p:ext uri="{BB962C8B-B14F-4D97-AF65-F5344CB8AC3E}">
        <p14:creationId xmlns:p14="http://schemas.microsoft.com/office/powerpoint/2010/main" val="1622818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18</a:t>
            </a:fld>
            <a:endParaRPr lang="en-GB"/>
          </a:p>
        </p:txBody>
      </p:sp>
    </p:spTree>
    <p:extLst>
      <p:ext uri="{BB962C8B-B14F-4D97-AF65-F5344CB8AC3E}">
        <p14:creationId xmlns:p14="http://schemas.microsoft.com/office/powerpoint/2010/main" val="2770975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19</a:t>
            </a:fld>
            <a:endParaRPr lang="en-GB"/>
          </a:p>
        </p:txBody>
      </p:sp>
    </p:spTree>
    <p:extLst>
      <p:ext uri="{BB962C8B-B14F-4D97-AF65-F5344CB8AC3E}">
        <p14:creationId xmlns:p14="http://schemas.microsoft.com/office/powerpoint/2010/main" val="28390789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20</a:t>
            </a:fld>
            <a:endParaRPr lang="en-GB"/>
          </a:p>
        </p:txBody>
      </p:sp>
    </p:spTree>
    <p:extLst>
      <p:ext uri="{BB962C8B-B14F-4D97-AF65-F5344CB8AC3E}">
        <p14:creationId xmlns:p14="http://schemas.microsoft.com/office/powerpoint/2010/main" val="72864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21</a:t>
            </a:fld>
            <a:endParaRPr lang="en-GB"/>
          </a:p>
        </p:txBody>
      </p:sp>
    </p:spTree>
    <p:extLst>
      <p:ext uri="{BB962C8B-B14F-4D97-AF65-F5344CB8AC3E}">
        <p14:creationId xmlns:p14="http://schemas.microsoft.com/office/powerpoint/2010/main" val="40721432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rtlCol="0">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defRPr>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defRPr>
            </a:lvl1pPr>
            <a:lvl2pPr marL="457200" indent="0">
              <a:lnSpc>
                <a:spcPct val="120000"/>
              </a:lnSpc>
              <a:spcBef>
                <a:spcPts val="1000"/>
              </a:spcBef>
              <a:buNone/>
              <a:defRPr sz="1400" baseline="0">
                <a:solidFill>
                  <a:schemeClr val="bg1"/>
                </a:solidFill>
              </a:defRPr>
            </a:lvl2pPr>
            <a:lvl3pPr marL="914400" indent="0">
              <a:lnSpc>
                <a:spcPct val="120000"/>
              </a:lnSpc>
              <a:spcBef>
                <a:spcPts val="1000"/>
              </a:spcBef>
              <a:buNone/>
              <a:defRPr sz="1400" baseline="0">
                <a:solidFill>
                  <a:schemeClr val="bg1"/>
                </a:solidFill>
              </a:defRPr>
            </a:lvl3pPr>
            <a:lvl4pPr marL="1371600" indent="0">
              <a:lnSpc>
                <a:spcPct val="120000"/>
              </a:lnSpc>
              <a:spcBef>
                <a:spcPts val="1000"/>
              </a:spcBef>
              <a:buNone/>
              <a:defRPr sz="1400" baseline="0">
                <a:solidFill>
                  <a:schemeClr val="bg1"/>
                </a:solidFill>
              </a:defRPr>
            </a:lvl4pPr>
            <a:lvl5pPr marL="1828800" indent="0">
              <a:lnSpc>
                <a:spcPct val="120000"/>
              </a:lnSpc>
              <a:spcBef>
                <a:spcPts val="1000"/>
              </a:spcBef>
              <a:buNone/>
              <a:defRPr sz="1400" baseline="0">
                <a:solidFill>
                  <a:schemeClr val="bg1"/>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n-GB" noProof="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n-GB" noProof="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n-GB" noProof="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n-GB" noProof="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tx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n-GB" noProof="0" smtClean="0"/>
              <a:t>‹#›</a:t>
            </a:fld>
            <a:endParaRPr lang="en-GB" noProof="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defRPr>
            </a:lvl1pPr>
          </a:lstStyle>
          <a:p>
            <a:pPr rtl="0"/>
            <a:r>
              <a:rPr lang="en-GB" noProof="0"/>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mj-lt"/>
                <a:ea typeface="+mj-ea"/>
                <a:cs typeface="+mj-cs"/>
              </a:defRPr>
            </a:lvl1pPr>
          </a:lstStyle>
          <a:p>
            <a:pPr rtl="0"/>
            <a:r>
              <a:rPr lang="en-GB" noProof="0"/>
              <a:t>CLICK TO EDIT MASTER TITLE STYLE</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defRPr>
            </a:lvl1pPr>
            <a:lvl2pPr marL="457200" indent="0" algn="ctr">
              <a:lnSpc>
                <a:spcPct val="100000"/>
              </a:lnSpc>
              <a:buNone/>
              <a:defRPr sz="1400" cap="none"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a:p>
            <a:pPr lvl="1" rtl="0"/>
            <a:r>
              <a:rPr lang="en-US" noProof="0"/>
              <a:t>Second level</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en-US" noProof="0"/>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rtlCol="0"/>
          <a:lstStyle/>
          <a:p>
            <a:pPr rtl="0"/>
            <a:r>
              <a:rPr lang="en-US" noProof="0"/>
              <a:t>Click icon to add chart</a:t>
            </a:r>
            <a:endParaRPr lang="en-GB" noProof="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rtlCol="0">
            <a:noAutofit/>
          </a:bodyPr>
          <a:lstStyle>
            <a:lvl1pPr marL="0" indent="0">
              <a:buNone/>
              <a:defRPr sz="1400" cap="all" spc="150" baseline="0">
                <a:solidFill>
                  <a:schemeClr val="tx1"/>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en-US" noProof="0"/>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en-GB" noProof="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491003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2" name="Rectangle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9084"/>
            <a:ext cx="10515600" cy="3695338"/>
          </a:xfrm>
        </p:spPr>
        <p:txBody>
          <a:bodyPr rtlCol="0"/>
          <a:lstStyle/>
          <a:p>
            <a:pPr rtl="0"/>
            <a:r>
              <a:rPr lang="en-US" noProof="0"/>
              <a:t>Click icon to add SmartArt graphic</a:t>
            </a:r>
            <a:endParaRPr lang="en-GB" noProof="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cxnSp>
        <p:nvCxnSpPr>
          <p:cNvPr id="10" name="Straight Connector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lstStyle/>
          <a:p>
            <a:pPr lvl="1"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n-GB" noProof="0" smtClean="0"/>
              <a:t>‹#›</a:t>
            </a:fld>
            <a:endParaRPr lang="en-GB" noProof="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Content Placeholder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4" name="Content Placeholder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5" name="Content Placeholder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6" name="Content Placeholder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defRPr>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n-GB" noProof="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n-GB" noProof="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79"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jpeg"/></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3.gif"/></Relationships>
</file>

<file path=ppt/slides/_rels/slide9.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hyperlink" Target="https://www.blog.udonis.co/mobile-marketing/mobile-games/mobile-gaming-statistics"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hyperlink" Target="https://www.statista.com/statistics/300522/mobile-gaming-in-the-uk-by-age/?srsltid=AfmBOopr_MJg_YpNZPqNK0QH-A-4f4uncVg00iAy1CkFXYOWjk4L4dLO" TargetMode="External"/><Relationship Id="rId4" Type="http://schemas.openxmlformats.org/officeDocument/2006/relationships/hyperlink" Target="https://www.blog.udonis.co/mobile-marketing/mobile-games/hay-day-monetization"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fate-go.us/" TargetMode="External"/><Relationship Id="rId3" Type="http://schemas.openxmlformats.org/officeDocument/2006/relationships/hyperlink" Target="https://cookieclicker.com/" TargetMode="External"/><Relationship Id="rId7" Type="http://schemas.openxmlformats.org/officeDocument/2006/relationships/hyperlink" Target="https://www.mobilelegends.com/" TargetMode="External"/><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hyperlink" Target="https://supercell.com/en/games/clashroyale" TargetMode="External"/><Relationship Id="rId5" Type="http://schemas.openxmlformats.org/officeDocument/2006/relationships/hyperlink" Target="https://www.pou.me/" TargetMode="External"/><Relationship Id="rId4" Type="http://schemas.openxmlformats.org/officeDocument/2006/relationships/hyperlink" Target="https://clickerheroes.com/"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46.jpeg"/><Relationship Id="rId4" Type="http://schemas.openxmlformats.org/officeDocument/2006/relationships/image" Target="../media/image45.jpe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53.png"/><Relationship Id="rId4" Type="http://schemas.openxmlformats.org/officeDocument/2006/relationships/image" Target="../media/image5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blog.udonis.co/mobile-marketing/mobile-games/mobile-gaming-statistics"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rtlCol="0"/>
          <a:lstStyle/>
          <a:p>
            <a:pPr rtl="0"/>
            <a:r>
              <a:rPr lang="en-GB" dirty="0"/>
              <a:t>Bamboo Breeze</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rtlCol="0"/>
          <a:lstStyle/>
          <a:p>
            <a:r>
              <a:rPr lang="en-GB" dirty="0"/>
              <a:t>Vennce Bravo 23140264</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1020445"/>
            <a:ext cx="3171825" cy="1325563"/>
          </a:xfrm>
        </p:spPr>
        <p:txBody>
          <a:bodyPr rtlCol="0"/>
          <a:lstStyle/>
          <a:p>
            <a:pPr rtl="0"/>
            <a:r>
              <a:rPr lang="en-GB" dirty="0"/>
              <a:t>ABOUT Me</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924175"/>
            <a:ext cx="3171825" cy="2519363"/>
          </a:xfrm>
        </p:spPr>
        <p:txBody>
          <a:bodyPr rtlCol="0">
            <a:normAutofit/>
          </a:bodyPr>
          <a:lstStyle/>
          <a:p>
            <a:pPr rtl="0"/>
            <a:r>
              <a:rPr lang="en-GB" dirty="0"/>
              <a:t>I am Vennce Bravo. </a:t>
            </a:r>
            <a:br>
              <a:rPr lang="en-GB" dirty="0"/>
            </a:br>
            <a:r>
              <a:rPr lang="en-GB" dirty="0"/>
              <a:t>I am a 3</a:t>
            </a:r>
            <a:r>
              <a:rPr lang="en-GB" baseline="30000" dirty="0"/>
              <a:t>rd</a:t>
            </a:r>
            <a:r>
              <a:rPr lang="en-GB" dirty="0"/>
              <a:t> year student at BCU studying Computer Games Technology.</a:t>
            </a:r>
            <a:br>
              <a:rPr lang="en-GB" dirty="0"/>
            </a:br>
            <a:r>
              <a:rPr lang="en-GB" dirty="0"/>
              <a:t>I have experience in both Unity and Unreal Engine 5 whilst also having experience in web development.</a:t>
            </a:r>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rtlCol="0"/>
          <a:lstStyle/>
          <a:p>
            <a:pPr rtl="0"/>
            <a:r>
              <a:rPr lang="en-GB"/>
              <a:t>20XX</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rtlCol="0"/>
          <a:lstStyle/>
          <a:p>
            <a:pPr rtl="0"/>
            <a:r>
              <a:rPr lang="en-GB"/>
              <a:t>Pitch Deck</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rtlCol="0"/>
          <a:lstStyle/>
          <a:p>
            <a:pPr rtl="0"/>
            <a:fld id="{19B51A1E-902D-48AF-9020-955120F399B6}" type="slidenum">
              <a:rPr lang="en-GB" smtClean="0"/>
              <a:pPr/>
              <a:t>2</a:t>
            </a:fld>
            <a:endParaRPr lang="en-GB"/>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AA365-9FD5-698F-91F6-876A41075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75C9F-E7BD-6D3F-38A3-4D88F1C62329}"/>
              </a:ext>
            </a:extLst>
          </p:cNvPr>
          <p:cNvSpPr>
            <a:spLocks noGrp="1"/>
          </p:cNvSpPr>
          <p:nvPr>
            <p:ph type="title"/>
          </p:nvPr>
        </p:nvSpPr>
        <p:spPr>
          <a:xfrm>
            <a:off x="1885156" y="892177"/>
            <a:ext cx="8421688" cy="1325563"/>
          </a:xfrm>
        </p:spPr>
        <p:txBody>
          <a:bodyPr rtlCol="0" anchor="ctr">
            <a:normAutofit/>
          </a:bodyPr>
          <a:lstStyle/>
          <a:p>
            <a:pPr rtl="0"/>
            <a:r>
              <a:rPr lang="en-GB" dirty="0"/>
              <a:t>Past work Examples</a:t>
            </a:r>
          </a:p>
        </p:txBody>
      </p:sp>
      <p:pic>
        <p:nvPicPr>
          <p:cNvPr id="22" name="Picture 21">
            <a:extLst>
              <a:ext uri="{FF2B5EF4-FFF2-40B4-BE49-F238E27FC236}">
                <a16:creationId xmlns:a16="http://schemas.microsoft.com/office/drawing/2014/main" id="{2B1E7051-78AE-ADA3-156D-0D9BE3E28706}"/>
              </a:ext>
            </a:extLst>
          </p:cNvPr>
          <p:cNvPicPr>
            <a:picLocks noChangeAspect="1"/>
          </p:cNvPicPr>
          <p:nvPr/>
        </p:nvPicPr>
        <p:blipFill>
          <a:blip r:embed="rId3"/>
          <a:srcRect l="17915" r="22836"/>
          <a:stretch>
            <a:fillRect/>
          </a:stretch>
        </p:blipFill>
        <p:spPr>
          <a:xfrm>
            <a:off x="6362270" y="2941247"/>
            <a:ext cx="1845511" cy="1845511"/>
          </a:xfrm>
          <a:prstGeom prst="rect">
            <a:avLst/>
          </a:prstGeom>
          <a:noFill/>
        </p:spPr>
      </p:pic>
      <p:sp>
        <p:nvSpPr>
          <p:cNvPr id="5" name="Text Placeholder 4">
            <a:extLst>
              <a:ext uri="{FF2B5EF4-FFF2-40B4-BE49-F238E27FC236}">
                <a16:creationId xmlns:a16="http://schemas.microsoft.com/office/drawing/2014/main" id="{D60BD428-638C-7A35-847B-0C07EE007A75}"/>
              </a:ext>
            </a:extLst>
          </p:cNvPr>
          <p:cNvSpPr>
            <a:spLocks noGrp="1"/>
          </p:cNvSpPr>
          <p:nvPr>
            <p:ph type="body" idx="1"/>
          </p:nvPr>
        </p:nvSpPr>
        <p:spPr>
          <a:xfrm>
            <a:off x="1311558" y="5084524"/>
            <a:ext cx="2196619" cy="343061"/>
          </a:xfrm>
        </p:spPr>
        <p:txBody>
          <a:bodyPr rtlCol="0" anchor="ctr">
            <a:normAutofit/>
          </a:bodyPr>
          <a:lstStyle/>
          <a:p>
            <a:r>
              <a:rPr lang="en-GB" dirty="0"/>
              <a:t>Year 1 - unity</a:t>
            </a:r>
          </a:p>
        </p:txBody>
      </p:sp>
      <p:sp>
        <p:nvSpPr>
          <p:cNvPr id="1033" name="Text Placeholder 4">
            <a:extLst>
              <a:ext uri="{FF2B5EF4-FFF2-40B4-BE49-F238E27FC236}">
                <a16:creationId xmlns:a16="http://schemas.microsoft.com/office/drawing/2014/main" id="{49DF02CB-9BAC-E7F7-C75B-6E686909E31B}"/>
              </a:ext>
            </a:extLst>
          </p:cNvPr>
          <p:cNvSpPr>
            <a:spLocks noGrp="1"/>
          </p:cNvSpPr>
          <p:nvPr>
            <p:ph type="body" idx="21"/>
          </p:nvPr>
        </p:nvSpPr>
        <p:spPr>
          <a:xfrm>
            <a:off x="1487181" y="5464114"/>
            <a:ext cx="1845511" cy="343061"/>
          </a:xfrm>
        </p:spPr>
        <p:txBody>
          <a:bodyPr/>
          <a:lstStyle/>
          <a:p>
            <a:endParaRPr lang="en-US"/>
          </a:p>
        </p:txBody>
      </p:sp>
      <p:pic>
        <p:nvPicPr>
          <p:cNvPr id="1028" name="Picture 4" descr="A person standing in front of a house&#10;&#10;Description automatically generated">
            <a:extLst>
              <a:ext uri="{FF2B5EF4-FFF2-40B4-BE49-F238E27FC236}">
                <a16:creationId xmlns:a16="http://schemas.microsoft.com/office/drawing/2014/main" id="{B98F0814-9450-E9C2-3A78-571C3C4FD8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6254" r="8817" b="-2"/>
          <a:stretch>
            <a:fillRect/>
          </a:stretch>
        </p:blipFill>
        <p:spPr bwMode="auto">
          <a:xfrm>
            <a:off x="3836914" y="2886074"/>
            <a:ext cx="1845511" cy="1845511"/>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5E6D1DCD-7458-0E5D-67FC-75B434A40328}"/>
              </a:ext>
            </a:extLst>
          </p:cNvPr>
          <p:cNvSpPr>
            <a:spLocks noGrp="1"/>
          </p:cNvSpPr>
          <p:nvPr>
            <p:ph type="body" idx="18"/>
          </p:nvPr>
        </p:nvSpPr>
        <p:spPr>
          <a:xfrm>
            <a:off x="3707607" y="5099206"/>
            <a:ext cx="2145049" cy="343061"/>
          </a:xfrm>
        </p:spPr>
        <p:txBody>
          <a:bodyPr rtlCol="0" anchor="ctr">
            <a:normAutofit/>
          </a:bodyPr>
          <a:lstStyle/>
          <a:p>
            <a:pPr rtl="0"/>
            <a:r>
              <a:rPr lang="en-GB" dirty="0"/>
              <a:t>Year 1 - Unreal</a:t>
            </a:r>
          </a:p>
        </p:txBody>
      </p:sp>
      <p:sp>
        <p:nvSpPr>
          <p:cNvPr id="1035" name="Text Placeholder 7">
            <a:extLst>
              <a:ext uri="{FF2B5EF4-FFF2-40B4-BE49-F238E27FC236}">
                <a16:creationId xmlns:a16="http://schemas.microsoft.com/office/drawing/2014/main" id="{15FD3082-9E25-9E66-E62B-62E779F90374}"/>
              </a:ext>
            </a:extLst>
          </p:cNvPr>
          <p:cNvSpPr>
            <a:spLocks noGrp="1"/>
          </p:cNvSpPr>
          <p:nvPr>
            <p:ph type="body" idx="22"/>
          </p:nvPr>
        </p:nvSpPr>
        <p:spPr>
          <a:xfrm>
            <a:off x="3836913" y="5478796"/>
            <a:ext cx="1855949" cy="343061"/>
          </a:xfrm>
        </p:spPr>
        <p:txBody>
          <a:bodyPr/>
          <a:lstStyle/>
          <a:p>
            <a:endParaRPr lang="en-US"/>
          </a:p>
        </p:txBody>
      </p:sp>
      <p:sp>
        <p:nvSpPr>
          <p:cNvPr id="6" name="Text Placeholder 5">
            <a:extLst>
              <a:ext uri="{FF2B5EF4-FFF2-40B4-BE49-F238E27FC236}">
                <a16:creationId xmlns:a16="http://schemas.microsoft.com/office/drawing/2014/main" id="{A4D1B124-9F64-5D96-769C-6FB473EF3BF0}"/>
              </a:ext>
            </a:extLst>
          </p:cNvPr>
          <p:cNvSpPr>
            <a:spLocks noGrp="1"/>
          </p:cNvSpPr>
          <p:nvPr>
            <p:ph type="body" idx="19"/>
          </p:nvPr>
        </p:nvSpPr>
        <p:spPr>
          <a:xfrm>
            <a:off x="6198271" y="5099206"/>
            <a:ext cx="2132985" cy="343061"/>
          </a:xfrm>
        </p:spPr>
        <p:txBody>
          <a:bodyPr rtlCol="0" anchor="ctr">
            <a:normAutofit/>
          </a:bodyPr>
          <a:lstStyle/>
          <a:p>
            <a:pPr rtl="0"/>
            <a:r>
              <a:rPr lang="en-GB" sz="900" dirty="0"/>
              <a:t>Year 2 – Unity </a:t>
            </a:r>
            <a:r>
              <a:rPr lang="en-GB" sz="900" dirty="0" err="1"/>
              <a:t>Colaberation</a:t>
            </a:r>
            <a:endParaRPr lang="en-GB" sz="900" dirty="0"/>
          </a:p>
        </p:txBody>
      </p:sp>
      <p:sp>
        <p:nvSpPr>
          <p:cNvPr id="1037" name="Text Placeholder 10">
            <a:extLst>
              <a:ext uri="{FF2B5EF4-FFF2-40B4-BE49-F238E27FC236}">
                <a16:creationId xmlns:a16="http://schemas.microsoft.com/office/drawing/2014/main" id="{54BBFEB0-A3A1-859B-02B1-A330F0A4C026}"/>
              </a:ext>
            </a:extLst>
          </p:cNvPr>
          <p:cNvSpPr>
            <a:spLocks noGrp="1"/>
          </p:cNvSpPr>
          <p:nvPr>
            <p:ph type="body" idx="23"/>
          </p:nvPr>
        </p:nvSpPr>
        <p:spPr>
          <a:xfrm>
            <a:off x="6327577" y="5478796"/>
            <a:ext cx="1845511" cy="343061"/>
          </a:xfrm>
        </p:spPr>
        <p:txBody>
          <a:bodyPr/>
          <a:lstStyle/>
          <a:p>
            <a:endParaRPr lang="en-US"/>
          </a:p>
        </p:txBody>
      </p:sp>
      <p:pic>
        <p:nvPicPr>
          <p:cNvPr id="24" name="Picture Placeholder 23">
            <a:extLst>
              <a:ext uri="{FF2B5EF4-FFF2-40B4-BE49-F238E27FC236}">
                <a16:creationId xmlns:a16="http://schemas.microsoft.com/office/drawing/2014/main" id="{08E21792-C2A8-CF5F-71B2-87F073176A68}"/>
              </a:ext>
            </a:extLst>
          </p:cNvPr>
          <p:cNvPicPr>
            <a:picLocks noGrp="1" noChangeAspect="1"/>
          </p:cNvPicPr>
          <p:nvPr>
            <p:ph type="pic" sz="quarter" idx="17"/>
          </p:nvPr>
        </p:nvPicPr>
        <p:blipFill>
          <a:blip r:embed="rId5"/>
          <a:srcRect l="25623" r="25623"/>
          <a:stretch/>
        </p:blipFill>
        <p:spPr>
          <a:prstGeom prst="rect">
            <a:avLst/>
          </a:prstGeom>
          <a:solidFill>
            <a:prstClr val="white">
              <a:lumMod val="95000"/>
            </a:prstClr>
          </a:solidFill>
        </p:spPr>
      </p:pic>
      <p:sp>
        <p:nvSpPr>
          <p:cNvPr id="3" name="Content Placeholder 2">
            <a:extLst>
              <a:ext uri="{FF2B5EF4-FFF2-40B4-BE49-F238E27FC236}">
                <a16:creationId xmlns:a16="http://schemas.microsoft.com/office/drawing/2014/main" id="{DB1EE25E-8B3C-5B44-CDC0-F87C6049D64F}"/>
              </a:ext>
            </a:extLst>
          </p:cNvPr>
          <p:cNvSpPr>
            <a:spLocks noGrp="1"/>
          </p:cNvSpPr>
          <p:nvPr>
            <p:ph type="body" idx="20"/>
          </p:nvPr>
        </p:nvSpPr>
        <p:spPr>
          <a:xfrm>
            <a:off x="8618152" y="5084524"/>
            <a:ext cx="2132984" cy="343061"/>
          </a:xfrm>
        </p:spPr>
        <p:txBody>
          <a:bodyPr vert="horz" lIns="91440" tIns="45720" rIns="91440" bIns="45720" rtlCol="0" anchor="ctr">
            <a:normAutofit/>
          </a:bodyPr>
          <a:lstStyle/>
          <a:p>
            <a:pPr rtl="0"/>
            <a:r>
              <a:rPr lang="en-GB" dirty="0"/>
              <a:t>Year 2 – Web Game</a:t>
            </a:r>
          </a:p>
        </p:txBody>
      </p:sp>
      <p:sp>
        <p:nvSpPr>
          <p:cNvPr id="1041" name="Text Placeholder 13">
            <a:extLst>
              <a:ext uri="{FF2B5EF4-FFF2-40B4-BE49-F238E27FC236}">
                <a16:creationId xmlns:a16="http://schemas.microsoft.com/office/drawing/2014/main" id="{7B38EA72-947D-D5D5-F6DE-C791211A6E47}"/>
              </a:ext>
            </a:extLst>
          </p:cNvPr>
          <p:cNvSpPr>
            <a:spLocks noGrp="1"/>
          </p:cNvSpPr>
          <p:nvPr>
            <p:ph type="body" idx="24"/>
          </p:nvPr>
        </p:nvSpPr>
        <p:spPr>
          <a:xfrm>
            <a:off x="8747458" y="5464114"/>
            <a:ext cx="1845510" cy="343061"/>
          </a:xfrm>
        </p:spPr>
        <p:txBody>
          <a:bodyPr/>
          <a:lstStyle/>
          <a:p>
            <a:endParaRPr lang="en-US"/>
          </a:p>
        </p:txBody>
      </p:sp>
      <p:sp>
        <p:nvSpPr>
          <p:cNvPr id="11" name="Date Placeholder 10">
            <a:extLst>
              <a:ext uri="{FF2B5EF4-FFF2-40B4-BE49-F238E27FC236}">
                <a16:creationId xmlns:a16="http://schemas.microsoft.com/office/drawing/2014/main" id="{A3F5C860-51A0-DD03-C0FC-3B085703DE61}"/>
              </a:ext>
            </a:extLst>
          </p:cNvPr>
          <p:cNvSpPr>
            <a:spLocks noGrp="1"/>
          </p:cNvSpPr>
          <p:nvPr>
            <p:ph type="dt" sz="half" idx="10"/>
          </p:nvPr>
        </p:nvSpPr>
        <p:spPr>
          <a:xfrm>
            <a:off x="838200" y="6356350"/>
            <a:ext cx="2743200" cy="365125"/>
          </a:xfrm>
        </p:spPr>
        <p:txBody>
          <a:bodyPr rtlCol="0" anchor="ctr">
            <a:normAutofit/>
          </a:bodyPr>
          <a:lstStyle/>
          <a:p>
            <a:pPr rtl="0">
              <a:spcAft>
                <a:spcPts val="600"/>
              </a:spcAft>
            </a:pPr>
            <a:r>
              <a:rPr lang="en-GB"/>
              <a:t>20XX</a:t>
            </a:r>
          </a:p>
        </p:txBody>
      </p:sp>
      <p:sp>
        <p:nvSpPr>
          <p:cNvPr id="80" name="Footer Placeholder 79">
            <a:extLst>
              <a:ext uri="{FF2B5EF4-FFF2-40B4-BE49-F238E27FC236}">
                <a16:creationId xmlns:a16="http://schemas.microsoft.com/office/drawing/2014/main" id="{C87C55BF-37F0-6504-BA1B-BBB965F7AB2A}"/>
              </a:ext>
            </a:extLst>
          </p:cNvPr>
          <p:cNvSpPr>
            <a:spLocks noGrp="1"/>
          </p:cNvSpPr>
          <p:nvPr>
            <p:ph type="ftr" sz="quarter" idx="11"/>
          </p:nvPr>
        </p:nvSpPr>
        <p:spPr>
          <a:xfrm>
            <a:off x="4038600" y="6356350"/>
            <a:ext cx="4114800" cy="365125"/>
          </a:xfrm>
        </p:spPr>
        <p:txBody>
          <a:bodyPr rtlCol="0" anchor="ctr">
            <a:normAutofit/>
          </a:bodyPr>
          <a:lstStyle/>
          <a:p>
            <a:pPr rtl="0">
              <a:spcAft>
                <a:spcPts val="600"/>
              </a:spcAft>
            </a:pPr>
            <a:r>
              <a:rPr lang="en-GB"/>
              <a:t>Pitch Deck</a:t>
            </a:r>
          </a:p>
        </p:txBody>
      </p:sp>
      <p:sp>
        <p:nvSpPr>
          <p:cNvPr id="13" name="Slide Number Placeholder 12">
            <a:extLst>
              <a:ext uri="{FF2B5EF4-FFF2-40B4-BE49-F238E27FC236}">
                <a16:creationId xmlns:a16="http://schemas.microsoft.com/office/drawing/2014/main" id="{1DDD5540-ED30-DFC7-A1CD-2A01C5137262}"/>
              </a:ext>
            </a:extLst>
          </p:cNvPr>
          <p:cNvSpPr>
            <a:spLocks noGrp="1"/>
          </p:cNvSpPr>
          <p:nvPr>
            <p:ph type="sldNum" sz="quarter" idx="12"/>
          </p:nvPr>
        </p:nvSpPr>
        <p:spPr>
          <a:xfrm>
            <a:off x="8610600" y="6356350"/>
            <a:ext cx="2743200" cy="365125"/>
          </a:xfrm>
        </p:spPr>
        <p:txBody>
          <a:bodyPr rtlCol="0" anchor="ctr">
            <a:normAutofit/>
          </a:bodyPr>
          <a:lstStyle/>
          <a:p>
            <a:pPr rtl="0">
              <a:spcAft>
                <a:spcPts val="600"/>
              </a:spcAft>
            </a:pPr>
            <a:fld id="{B5CEABB6-07DC-46E8-9B57-56EC44A396E5}" type="slidenum">
              <a:rPr lang="en-GB" smtClean="0"/>
              <a:pPr rtl="0">
                <a:spcAft>
                  <a:spcPts val="600"/>
                </a:spcAft>
              </a:pPr>
              <a:t>3</a:t>
            </a:fld>
            <a:endParaRPr lang="en-GB"/>
          </a:p>
        </p:txBody>
      </p:sp>
      <p:pic>
        <p:nvPicPr>
          <p:cNvPr id="25" name="Picture 2" descr="A video game with trees and bushes with Stonehenge in the background&#10;&#10;Description automatically generated">
            <a:extLst>
              <a:ext uri="{FF2B5EF4-FFF2-40B4-BE49-F238E27FC236}">
                <a16:creationId xmlns:a16="http://schemas.microsoft.com/office/drawing/2014/main" id="{59CA3B59-A59E-17BC-81AD-4591103D1F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5907" r="19164" b="-2"/>
          <a:stretch>
            <a:fillRect/>
          </a:stretch>
        </p:blipFill>
        <p:spPr bwMode="auto">
          <a:xfrm>
            <a:off x="1494342" y="2886073"/>
            <a:ext cx="1845511" cy="1845511"/>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1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43474-85B8-C918-6393-34FBB5228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21694-03EA-3293-9361-7F74C74B1B7F}"/>
              </a:ext>
            </a:extLst>
          </p:cNvPr>
          <p:cNvSpPr>
            <a:spLocks noGrp="1"/>
          </p:cNvSpPr>
          <p:nvPr>
            <p:ph type="title"/>
          </p:nvPr>
        </p:nvSpPr>
        <p:spPr>
          <a:xfrm>
            <a:off x="1362074" y="292018"/>
            <a:ext cx="5111750" cy="1204912"/>
          </a:xfrm>
        </p:spPr>
        <p:txBody>
          <a:bodyPr rtlCol="0"/>
          <a:lstStyle/>
          <a:p>
            <a:pPr rtl="0"/>
            <a:r>
              <a:rPr lang="en-GB" dirty="0"/>
              <a:t>Overview</a:t>
            </a:r>
          </a:p>
        </p:txBody>
      </p:sp>
      <p:sp>
        <p:nvSpPr>
          <p:cNvPr id="3" name="Content Placeholder 2">
            <a:extLst>
              <a:ext uri="{FF2B5EF4-FFF2-40B4-BE49-F238E27FC236}">
                <a16:creationId xmlns:a16="http://schemas.microsoft.com/office/drawing/2014/main" id="{14335161-65E1-C9BA-F77D-2A55D8E9F10C}"/>
              </a:ext>
            </a:extLst>
          </p:cNvPr>
          <p:cNvSpPr>
            <a:spLocks noGrp="1"/>
          </p:cNvSpPr>
          <p:nvPr>
            <p:ph type="body" idx="1"/>
          </p:nvPr>
        </p:nvSpPr>
        <p:spPr>
          <a:xfrm>
            <a:off x="82552" y="1764632"/>
            <a:ext cx="5246956" cy="4591718"/>
          </a:xfrm>
        </p:spPr>
        <p:txBody>
          <a:bodyPr vert="horz" lIns="91440" tIns="45720" rIns="91440" bIns="45720" rtlCol="0" anchor="t">
            <a:normAutofit/>
          </a:bodyPr>
          <a:lstStyle/>
          <a:p>
            <a:pPr rtl="0"/>
            <a:r>
              <a:rPr lang="en-GB" sz="3200" dirty="0"/>
              <a:t>Bamboo Breeze:</a:t>
            </a:r>
          </a:p>
          <a:p>
            <a:r>
              <a:rPr lang="en-GB" sz="1800" noProof="1"/>
              <a:t>Genres: Hyper Casual, 2D, Idle, Tycoon, Simulation</a:t>
            </a:r>
          </a:p>
          <a:p>
            <a:r>
              <a:rPr lang="en-GB" sz="1800" noProof="1"/>
              <a:t>Theme: Bamboo forest</a:t>
            </a:r>
          </a:p>
          <a:p>
            <a:r>
              <a:rPr lang="en-GB" sz="1800" noProof="1"/>
              <a:t>Game Engine: Unity 2D</a:t>
            </a:r>
          </a:p>
          <a:p>
            <a:r>
              <a:rPr lang="en-GB" sz="1800" noProof="1"/>
              <a:t>Graphic style: Low poly</a:t>
            </a:r>
          </a:p>
          <a:p>
            <a:r>
              <a:rPr lang="en-GB" sz="1800" noProof="1"/>
              <a:t>Planned platform: Google Play Store</a:t>
            </a:r>
          </a:p>
          <a:p>
            <a:r>
              <a:rPr lang="en-GB" sz="1800" noProof="1"/>
              <a:t>Audience: Children -&gt; Adults</a:t>
            </a:r>
          </a:p>
          <a:p>
            <a:br>
              <a:rPr lang="en-GB" sz="1800" noProof="1"/>
            </a:br>
            <a:br>
              <a:rPr lang="en-GB" sz="1800" noProof="1"/>
            </a:br>
            <a:endParaRPr lang="en-GB" sz="1800" noProof="1"/>
          </a:p>
        </p:txBody>
      </p:sp>
      <p:sp>
        <p:nvSpPr>
          <p:cNvPr id="4" name="Date Placeholder 3">
            <a:extLst>
              <a:ext uri="{FF2B5EF4-FFF2-40B4-BE49-F238E27FC236}">
                <a16:creationId xmlns:a16="http://schemas.microsoft.com/office/drawing/2014/main" id="{D575EE0D-BF20-FBB3-78CF-BA645787BEAE}"/>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5" name="Footer Placeholder 4">
            <a:extLst>
              <a:ext uri="{FF2B5EF4-FFF2-40B4-BE49-F238E27FC236}">
                <a16:creationId xmlns:a16="http://schemas.microsoft.com/office/drawing/2014/main" id="{D3E8481A-ABD9-E0B3-7DC1-49AC81F496EB}"/>
              </a:ext>
            </a:extLst>
          </p:cNvPr>
          <p:cNvSpPr>
            <a:spLocks noGrp="1"/>
          </p:cNvSpPr>
          <p:nvPr>
            <p:ph type="ftr" sz="quarter" idx="11"/>
          </p:nvPr>
        </p:nvSpPr>
        <p:spPr>
          <a:xfrm>
            <a:off x="5224463" y="6356350"/>
            <a:ext cx="1743075" cy="365125"/>
          </a:xfrm>
        </p:spPr>
        <p:txBody>
          <a:bodyPr rtlCol="0"/>
          <a:lstStyle/>
          <a:p>
            <a:pPr rtl="0"/>
            <a:r>
              <a:rPr lang="en-GB"/>
              <a:t>Pitch Deck</a:t>
            </a:r>
            <a:endParaRPr lang="en-GB" dirty="0"/>
          </a:p>
        </p:txBody>
      </p:sp>
      <p:sp>
        <p:nvSpPr>
          <p:cNvPr id="6" name="Slide Number Placeholder 5">
            <a:extLst>
              <a:ext uri="{FF2B5EF4-FFF2-40B4-BE49-F238E27FC236}">
                <a16:creationId xmlns:a16="http://schemas.microsoft.com/office/drawing/2014/main" id="{52B5CD6A-EBEF-6059-B3F3-AEC358321514}"/>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4</a:t>
            </a:fld>
            <a:endParaRPr lang="en-GB" dirty="0"/>
          </a:p>
        </p:txBody>
      </p:sp>
      <p:sp>
        <p:nvSpPr>
          <p:cNvPr id="7" name="Title 1">
            <a:extLst>
              <a:ext uri="{FF2B5EF4-FFF2-40B4-BE49-F238E27FC236}">
                <a16:creationId xmlns:a16="http://schemas.microsoft.com/office/drawing/2014/main" id="{359999A8-8F5F-7E3B-8452-C5A17507AF06}"/>
              </a:ext>
            </a:extLst>
          </p:cNvPr>
          <p:cNvSpPr txBox="1">
            <a:spLocks/>
          </p:cNvSpPr>
          <p:nvPr/>
        </p:nvSpPr>
        <p:spPr>
          <a:xfrm>
            <a:off x="6997698" y="1162176"/>
            <a:ext cx="5111750" cy="120491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GB" dirty="0"/>
              <a:t>Colour pallet</a:t>
            </a:r>
          </a:p>
        </p:txBody>
      </p:sp>
      <p:pic>
        <p:nvPicPr>
          <p:cNvPr id="9" name="Picture 8">
            <a:extLst>
              <a:ext uri="{FF2B5EF4-FFF2-40B4-BE49-F238E27FC236}">
                <a16:creationId xmlns:a16="http://schemas.microsoft.com/office/drawing/2014/main" id="{BDECAFE9-FCD3-90F4-78B5-8F3A446181A1}"/>
              </a:ext>
            </a:extLst>
          </p:cNvPr>
          <p:cNvPicPr>
            <a:picLocks noChangeAspect="1"/>
          </p:cNvPicPr>
          <p:nvPr/>
        </p:nvPicPr>
        <p:blipFill>
          <a:blip r:embed="rId3"/>
          <a:srcRect t="45450"/>
          <a:stretch>
            <a:fillRect/>
          </a:stretch>
        </p:blipFill>
        <p:spPr>
          <a:xfrm>
            <a:off x="5774974" y="2990036"/>
            <a:ext cx="5671247" cy="1335300"/>
          </a:xfrm>
          <a:prstGeom prst="rect">
            <a:avLst/>
          </a:prstGeom>
        </p:spPr>
      </p:pic>
      <p:sp>
        <p:nvSpPr>
          <p:cNvPr id="10" name="TextBox 9">
            <a:extLst>
              <a:ext uri="{FF2B5EF4-FFF2-40B4-BE49-F238E27FC236}">
                <a16:creationId xmlns:a16="http://schemas.microsoft.com/office/drawing/2014/main" id="{C68F430D-11B8-CE6B-3046-E89B90BBF4D0}"/>
              </a:ext>
            </a:extLst>
          </p:cNvPr>
          <p:cNvSpPr txBox="1"/>
          <p:nvPr/>
        </p:nvSpPr>
        <p:spPr>
          <a:xfrm>
            <a:off x="10441973" y="3396076"/>
            <a:ext cx="850867" cy="261610"/>
          </a:xfrm>
          <a:prstGeom prst="rect">
            <a:avLst/>
          </a:prstGeom>
          <a:noFill/>
        </p:spPr>
        <p:txBody>
          <a:bodyPr wrap="square" rtlCol="0">
            <a:spAutoFit/>
          </a:bodyPr>
          <a:lstStyle/>
          <a:p>
            <a:pPr algn="ctr"/>
            <a:r>
              <a:rPr lang="en-GB" sz="1100" dirty="0"/>
              <a:t>Highlight</a:t>
            </a:r>
          </a:p>
        </p:txBody>
      </p:sp>
      <p:sp>
        <p:nvSpPr>
          <p:cNvPr id="11" name="TextBox 10">
            <a:extLst>
              <a:ext uri="{FF2B5EF4-FFF2-40B4-BE49-F238E27FC236}">
                <a16:creationId xmlns:a16="http://schemas.microsoft.com/office/drawing/2014/main" id="{7F6D797B-5B09-9EA8-F347-95933F7CAD56}"/>
              </a:ext>
            </a:extLst>
          </p:cNvPr>
          <p:cNvSpPr txBox="1"/>
          <p:nvPr/>
        </p:nvSpPr>
        <p:spPr>
          <a:xfrm>
            <a:off x="9314213" y="3387277"/>
            <a:ext cx="850867" cy="261610"/>
          </a:xfrm>
          <a:prstGeom prst="rect">
            <a:avLst/>
          </a:prstGeom>
          <a:noFill/>
        </p:spPr>
        <p:txBody>
          <a:bodyPr wrap="square" rtlCol="0">
            <a:spAutoFit/>
          </a:bodyPr>
          <a:lstStyle/>
          <a:p>
            <a:pPr algn="ctr"/>
            <a:r>
              <a:rPr lang="en-GB" sz="1100" dirty="0"/>
              <a:t>Accent</a:t>
            </a:r>
          </a:p>
        </p:txBody>
      </p:sp>
      <p:sp>
        <p:nvSpPr>
          <p:cNvPr id="12" name="TextBox 11">
            <a:extLst>
              <a:ext uri="{FF2B5EF4-FFF2-40B4-BE49-F238E27FC236}">
                <a16:creationId xmlns:a16="http://schemas.microsoft.com/office/drawing/2014/main" id="{3A109EEC-2F62-018B-A75D-6EDED45FFB1B}"/>
              </a:ext>
            </a:extLst>
          </p:cNvPr>
          <p:cNvSpPr txBox="1"/>
          <p:nvPr/>
        </p:nvSpPr>
        <p:spPr>
          <a:xfrm>
            <a:off x="8185165" y="3397341"/>
            <a:ext cx="850867" cy="261610"/>
          </a:xfrm>
          <a:prstGeom prst="rect">
            <a:avLst/>
          </a:prstGeom>
          <a:noFill/>
        </p:spPr>
        <p:txBody>
          <a:bodyPr wrap="square" rtlCol="0">
            <a:spAutoFit/>
          </a:bodyPr>
          <a:lstStyle/>
          <a:p>
            <a:pPr algn="ctr"/>
            <a:r>
              <a:rPr lang="en-GB" sz="1100" dirty="0"/>
              <a:t>Ui</a:t>
            </a:r>
          </a:p>
        </p:txBody>
      </p:sp>
      <p:sp>
        <p:nvSpPr>
          <p:cNvPr id="13" name="TextBox 12">
            <a:extLst>
              <a:ext uri="{FF2B5EF4-FFF2-40B4-BE49-F238E27FC236}">
                <a16:creationId xmlns:a16="http://schemas.microsoft.com/office/drawing/2014/main" id="{65D63429-C69D-B659-8648-2A1ADF1D464B}"/>
              </a:ext>
            </a:extLst>
          </p:cNvPr>
          <p:cNvSpPr txBox="1"/>
          <p:nvPr/>
        </p:nvSpPr>
        <p:spPr>
          <a:xfrm>
            <a:off x="7056117" y="3396076"/>
            <a:ext cx="850867" cy="261610"/>
          </a:xfrm>
          <a:prstGeom prst="rect">
            <a:avLst/>
          </a:prstGeom>
          <a:noFill/>
        </p:spPr>
        <p:txBody>
          <a:bodyPr wrap="square" rtlCol="0">
            <a:spAutoFit/>
          </a:bodyPr>
          <a:lstStyle/>
          <a:p>
            <a:pPr algn="ctr"/>
            <a:r>
              <a:rPr lang="en-GB" sz="1100" dirty="0"/>
              <a:t>Ui</a:t>
            </a:r>
          </a:p>
        </p:txBody>
      </p:sp>
      <p:pic>
        <p:nvPicPr>
          <p:cNvPr id="16" name="Picture 15">
            <a:extLst>
              <a:ext uri="{FF2B5EF4-FFF2-40B4-BE49-F238E27FC236}">
                <a16:creationId xmlns:a16="http://schemas.microsoft.com/office/drawing/2014/main" id="{AED8C05E-CD6F-671E-E280-4CF7FE5B72BC}"/>
              </a:ext>
            </a:extLst>
          </p:cNvPr>
          <p:cNvPicPr>
            <a:picLocks noChangeAspect="1"/>
          </p:cNvPicPr>
          <p:nvPr/>
        </p:nvPicPr>
        <p:blipFill>
          <a:blip r:embed="rId4"/>
          <a:srcRect t="50964"/>
          <a:stretch>
            <a:fillRect/>
          </a:stretch>
        </p:blipFill>
        <p:spPr>
          <a:xfrm>
            <a:off x="5751510" y="4909970"/>
            <a:ext cx="5718176" cy="1204912"/>
          </a:xfrm>
          <a:prstGeom prst="rect">
            <a:avLst/>
          </a:prstGeom>
        </p:spPr>
      </p:pic>
      <p:sp>
        <p:nvSpPr>
          <p:cNvPr id="18" name="TextBox 17">
            <a:extLst>
              <a:ext uri="{FF2B5EF4-FFF2-40B4-BE49-F238E27FC236}">
                <a16:creationId xmlns:a16="http://schemas.microsoft.com/office/drawing/2014/main" id="{F72A8EC7-B50F-0229-EC1E-134302D2F4C1}"/>
              </a:ext>
            </a:extLst>
          </p:cNvPr>
          <p:cNvSpPr txBox="1"/>
          <p:nvPr/>
        </p:nvSpPr>
        <p:spPr>
          <a:xfrm>
            <a:off x="5884581" y="5250816"/>
            <a:ext cx="850867" cy="261610"/>
          </a:xfrm>
          <a:prstGeom prst="rect">
            <a:avLst/>
          </a:prstGeom>
          <a:noFill/>
        </p:spPr>
        <p:txBody>
          <a:bodyPr wrap="square" rtlCol="0">
            <a:spAutoFit/>
          </a:bodyPr>
          <a:lstStyle/>
          <a:p>
            <a:pPr algn="ctr"/>
            <a:r>
              <a:rPr lang="en-GB" sz="1100" dirty="0"/>
              <a:t>Bamboo</a:t>
            </a:r>
          </a:p>
        </p:txBody>
      </p:sp>
      <p:sp>
        <p:nvSpPr>
          <p:cNvPr id="19" name="TextBox 18">
            <a:extLst>
              <a:ext uri="{FF2B5EF4-FFF2-40B4-BE49-F238E27FC236}">
                <a16:creationId xmlns:a16="http://schemas.microsoft.com/office/drawing/2014/main" id="{3B71AABE-3061-D1E9-049B-74EC5D6AEB97}"/>
              </a:ext>
            </a:extLst>
          </p:cNvPr>
          <p:cNvSpPr txBox="1"/>
          <p:nvPr/>
        </p:nvSpPr>
        <p:spPr>
          <a:xfrm>
            <a:off x="7056117" y="5250816"/>
            <a:ext cx="850867" cy="261610"/>
          </a:xfrm>
          <a:prstGeom prst="rect">
            <a:avLst/>
          </a:prstGeom>
          <a:noFill/>
        </p:spPr>
        <p:txBody>
          <a:bodyPr wrap="square" rtlCol="0">
            <a:spAutoFit/>
          </a:bodyPr>
          <a:lstStyle/>
          <a:p>
            <a:pPr algn="ctr"/>
            <a:r>
              <a:rPr lang="en-GB" sz="1100" dirty="0"/>
              <a:t>Bamboo</a:t>
            </a:r>
          </a:p>
        </p:txBody>
      </p:sp>
      <p:sp>
        <p:nvSpPr>
          <p:cNvPr id="20" name="TextBox 19">
            <a:extLst>
              <a:ext uri="{FF2B5EF4-FFF2-40B4-BE49-F238E27FC236}">
                <a16:creationId xmlns:a16="http://schemas.microsoft.com/office/drawing/2014/main" id="{4D405508-1469-AA63-4155-CCEEC9F091EC}"/>
              </a:ext>
            </a:extLst>
          </p:cNvPr>
          <p:cNvSpPr txBox="1"/>
          <p:nvPr/>
        </p:nvSpPr>
        <p:spPr>
          <a:xfrm>
            <a:off x="8185163" y="5247100"/>
            <a:ext cx="850867" cy="261610"/>
          </a:xfrm>
          <a:prstGeom prst="rect">
            <a:avLst/>
          </a:prstGeom>
          <a:noFill/>
        </p:spPr>
        <p:txBody>
          <a:bodyPr wrap="square" rtlCol="0">
            <a:spAutoFit/>
          </a:bodyPr>
          <a:lstStyle/>
          <a:p>
            <a:pPr algn="ctr"/>
            <a:r>
              <a:rPr lang="en-GB" sz="1100" dirty="0"/>
              <a:t>Bamboo</a:t>
            </a:r>
          </a:p>
        </p:txBody>
      </p:sp>
      <p:sp>
        <p:nvSpPr>
          <p:cNvPr id="21" name="TextBox 20">
            <a:extLst>
              <a:ext uri="{FF2B5EF4-FFF2-40B4-BE49-F238E27FC236}">
                <a16:creationId xmlns:a16="http://schemas.microsoft.com/office/drawing/2014/main" id="{8E3D0BCC-7142-D80D-B288-DD3D9D49234E}"/>
              </a:ext>
            </a:extLst>
          </p:cNvPr>
          <p:cNvSpPr txBox="1"/>
          <p:nvPr/>
        </p:nvSpPr>
        <p:spPr>
          <a:xfrm>
            <a:off x="10441973" y="5247100"/>
            <a:ext cx="850867" cy="261610"/>
          </a:xfrm>
          <a:prstGeom prst="rect">
            <a:avLst/>
          </a:prstGeom>
          <a:noFill/>
        </p:spPr>
        <p:txBody>
          <a:bodyPr wrap="square" rtlCol="0">
            <a:spAutoFit/>
          </a:bodyPr>
          <a:lstStyle/>
          <a:p>
            <a:pPr algn="ctr"/>
            <a:r>
              <a:rPr lang="en-GB" sz="1100" dirty="0"/>
              <a:t>Accent</a:t>
            </a:r>
          </a:p>
        </p:txBody>
      </p:sp>
      <p:sp>
        <p:nvSpPr>
          <p:cNvPr id="14" name="TextBox 13">
            <a:extLst>
              <a:ext uri="{FF2B5EF4-FFF2-40B4-BE49-F238E27FC236}">
                <a16:creationId xmlns:a16="http://schemas.microsoft.com/office/drawing/2014/main" id="{781ADD69-BDE2-37EB-36FB-E648DEA7AC33}"/>
              </a:ext>
            </a:extLst>
          </p:cNvPr>
          <p:cNvSpPr txBox="1"/>
          <p:nvPr/>
        </p:nvSpPr>
        <p:spPr>
          <a:xfrm>
            <a:off x="9169101" y="5247100"/>
            <a:ext cx="1171536" cy="430887"/>
          </a:xfrm>
          <a:prstGeom prst="rect">
            <a:avLst/>
          </a:prstGeom>
          <a:noFill/>
        </p:spPr>
        <p:txBody>
          <a:bodyPr wrap="square" rtlCol="0">
            <a:spAutoFit/>
          </a:bodyPr>
          <a:lstStyle/>
          <a:p>
            <a:pPr algn="ctr"/>
            <a:r>
              <a:rPr lang="en-GB" sz="1100" dirty="0"/>
              <a:t>Background elements</a:t>
            </a:r>
          </a:p>
        </p:txBody>
      </p:sp>
      <p:sp>
        <p:nvSpPr>
          <p:cNvPr id="22" name="TextBox 21">
            <a:extLst>
              <a:ext uri="{FF2B5EF4-FFF2-40B4-BE49-F238E27FC236}">
                <a16:creationId xmlns:a16="http://schemas.microsoft.com/office/drawing/2014/main" id="{D129BD18-FD0B-A018-6703-DE39B3265332}"/>
              </a:ext>
            </a:extLst>
          </p:cNvPr>
          <p:cNvSpPr txBox="1"/>
          <p:nvPr/>
        </p:nvSpPr>
        <p:spPr>
          <a:xfrm>
            <a:off x="5884582" y="3387277"/>
            <a:ext cx="850867" cy="261610"/>
          </a:xfrm>
          <a:prstGeom prst="rect">
            <a:avLst/>
          </a:prstGeom>
          <a:noFill/>
        </p:spPr>
        <p:txBody>
          <a:bodyPr wrap="square" rtlCol="0">
            <a:spAutoFit/>
          </a:bodyPr>
          <a:lstStyle/>
          <a:p>
            <a:pPr algn="ctr"/>
            <a:r>
              <a:rPr lang="en-GB" sz="1100" dirty="0"/>
              <a:t>Ui</a:t>
            </a:r>
          </a:p>
        </p:txBody>
      </p:sp>
    </p:spTree>
    <p:extLst>
      <p:ext uri="{BB962C8B-B14F-4D97-AF65-F5344CB8AC3E}">
        <p14:creationId xmlns:p14="http://schemas.microsoft.com/office/powerpoint/2010/main" val="3771581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DEF0E-9194-BD17-A1A8-C80792FDA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F8E72-1B72-5776-2418-50CF77CB0048}"/>
              </a:ext>
            </a:extLst>
          </p:cNvPr>
          <p:cNvSpPr>
            <a:spLocks noGrp="1"/>
          </p:cNvSpPr>
          <p:nvPr>
            <p:ph type="title"/>
          </p:nvPr>
        </p:nvSpPr>
        <p:spPr>
          <a:xfrm>
            <a:off x="838200" y="505617"/>
            <a:ext cx="5111750" cy="1204912"/>
          </a:xfrm>
        </p:spPr>
        <p:txBody>
          <a:bodyPr rtlCol="0"/>
          <a:lstStyle/>
          <a:p>
            <a:br>
              <a:rPr lang="en-GB" noProof="1"/>
            </a:br>
            <a:r>
              <a:rPr lang="en-GB" dirty="0"/>
              <a:t>About the game</a:t>
            </a:r>
          </a:p>
        </p:txBody>
      </p:sp>
      <p:sp>
        <p:nvSpPr>
          <p:cNvPr id="3" name="Content Placeholder 2">
            <a:extLst>
              <a:ext uri="{FF2B5EF4-FFF2-40B4-BE49-F238E27FC236}">
                <a16:creationId xmlns:a16="http://schemas.microsoft.com/office/drawing/2014/main" id="{1660D211-D2DE-F753-71C6-05D2D64D722C}"/>
              </a:ext>
            </a:extLst>
          </p:cNvPr>
          <p:cNvSpPr>
            <a:spLocks noGrp="1"/>
          </p:cNvSpPr>
          <p:nvPr>
            <p:ph type="body" idx="1"/>
          </p:nvPr>
        </p:nvSpPr>
        <p:spPr>
          <a:xfrm>
            <a:off x="732422" y="1831973"/>
            <a:ext cx="7878178" cy="4296111"/>
          </a:xfrm>
        </p:spPr>
        <p:txBody>
          <a:bodyPr vert="horz" lIns="91440" tIns="45720" rIns="91440" bIns="45720" rtlCol="0" anchor="t">
            <a:normAutofit/>
          </a:bodyPr>
          <a:lstStyle/>
          <a:p>
            <a:r>
              <a:rPr lang="en-GB" sz="1800" noProof="1"/>
              <a:t>The game is going to be about growing bamboo and selling it for profit. The gameplay is going to be a tyoon-based 2D game inspired by similar games such as cookie clicker and clicker hero. </a:t>
            </a:r>
          </a:p>
          <a:p>
            <a:r>
              <a:rPr lang="en-GB" sz="1800" noProof="1"/>
              <a:t>The main game is going to be primarly for mobile users meaning that the primary gameplay loop will be simple and easy. The main hook would be that the player would generate money slowly and progress into making a lot of money so basically the user would see bigger numbers as they buy upgrades.</a:t>
            </a:r>
          </a:p>
          <a:p>
            <a:r>
              <a:rPr lang="en-GB" sz="1800" noProof="1"/>
              <a:t>It will also attempt on the integration of monetisation methods through methods such as banner advertisement or on-screen advertisement.</a:t>
            </a:r>
          </a:p>
        </p:txBody>
      </p:sp>
      <p:sp>
        <p:nvSpPr>
          <p:cNvPr id="4" name="Date Placeholder 3">
            <a:extLst>
              <a:ext uri="{FF2B5EF4-FFF2-40B4-BE49-F238E27FC236}">
                <a16:creationId xmlns:a16="http://schemas.microsoft.com/office/drawing/2014/main" id="{B19541E4-A606-B553-104E-45786938DDAF}"/>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5" name="Footer Placeholder 4">
            <a:extLst>
              <a:ext uri="{FF2B5EF4-FFF2-40B4-BE49-F238E27FC236}">
                <a16:creationId xmlns:a16="http://schemas.microsoft.com/office/drawing/2014/main" id="{711ED190-D16D-822A-B236-F46FA1B8C938}"/>
              </a:ext>
            </a:extLst>
          </p:cNvPr>
          <p:cNvSpPr>
            <a:spLocks noGrp="1"/>
          </p:cNvSpPr>
          <p:nvPr>
            <p:ph type="ftr" sz="quarter" idx="11"/>
          </p:nvPr>
        </p:nvSpPr>
        <p:spPr>
          <a:xfrm>
            <a:off x="5224463" y="6356350"/>
            <a:ext cx="1743075" cy="365125"/>
          </a:xfrm>
        </p:spPr>
        <p:txBody>
          <a:bodyPr rtlCol="0"/>
          <a:lstStyle/>
          <a:p>
            <a:pPr rtl="0"/>
            <a:r>
              <a:rPr lang="en-GB"/>
              <a:t>Pitch Deck</a:t>
            </a:r>
            <a:endParaRPr lang="en-GB" dirty="0"/>
          </a:p>
        </p:txBody>
      </p:sp>
      <p:sp>
        <p:nvSpPr>
          <p:cNvPr id="6" name="Slide Number Placeholder 5">
            <a:extLst>
              <a:ext uri="{FF2B5EF4-FFF2-40B4-BE49-F238E27FC236}">
                <a16:creationId xmlns:a16="http://schemas.microsoft.com/office/drawing/2014/main" id="{3BCC1CED-5841-B2CE-D87B-456BFB12859E}"/>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5</a:t>
            </a:fld>
            <a:endParaRPr lang="en-GB" dirty="0"/>
          </a:p>
        </p:txBody>
      </p:sp>
    </p:spTree>
    <p:extLst>
      <p:ext uri="{BB962C8B-B14F-4D97-AF65-F5344CB8AC3E}">
        <p14:creationId xmlns:p14="http://schemas.microsoft.com/office/powerpoint/2010/main" val="2280379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8E759-2544-47B1-6B8E-A80536CAD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85151-58A0-B96F-0604-B81E23FA0BD1}"/>
              </a:ext>
            </a:extLst>
          </p:cNvPr>
          <p:cNvSpPr>
            <a:spLocks noGrp="1"/>
          </p:cNvSpPr>
          <p:nvPr>
            <p:ph type="title"/>
          </p:nvPr>
        </p:nvSpPr>
        <p:spPr>
          <a:xfrm>
            <a:off x="1508760" y="4156405"/>
            <a:ext cx="3139440" cy="1325563"/>
          </a:xfrm>
        </p:spPr>
        <p:txBody>
          <a:bodyPr rtlCol="0"/>
          <a:lstStyle/>
          <a:p>
            <a:pPr rtl="0"/>
            <a:r>
              <a:rPr lang="en-GB" dirty="0"/>
              <a:t>Project aims</a:t>
            </a:r>
          </a:p>
        </p:txBody>
      </p:sp>
      <p:sp>
        <p:nvSpPr>
          <p:cNvPr id="3" name="Content Placeholder 2">
            <a:extLst>
              <a:ext uri="{FF2B5EF4-FFF2-40B4-BE49-F238E27FC236}">
                <a16:creationId xmlns:a16="http://schemas.microsoft.com/office/drawing/2014/main" id="{CDDFF370-FBD9-7371-3181-CE78F1C5D722}"/>
              </a:ext>
            </a:extLst>
          </p:cNvPr>
          <p:cNvSpPr>
            <a:spLocks noGrp="1"/>
          </p:cNvSpPr>
          <p:nvPr>
            <p:ph type="body" sz="quarter" idx="13"/>
          </p:nvPr>
        </p:nvSpPr>
        <p:spPr>
          <a:xfrm>
            <a:off x="5922254" y="1530635"/>
            <a:ext cx="5433204" cy="365125"/>
          </a:xfrm>
        </p:spPr>
        <p:txBody>
          <a:bodyPr vert="horz" lIns="91440" tIns="45720" rIns="91440" bIns="45720" rtlCol="0" anchor="t">
            <a:normAutofit lnSpcReduction="10000"/>
          </a:bodyPr>
          <a:lstStyle/>
          <a:p>
            <a:pPr rtl="0"/>
            <a:r>
              <a:rPr lang="en-GB" dirty="0"/>
              <a:t>Robust Ui + </a:t>
            </a:r>
            <a:r>
              <a:rPr lang="en-GB" dirty="0" err="1"/>
              <a:t>Ux</a:t>
            </a:r>
            <a:endParaRPr lang="en-GB" dirty="0"/>
          </a:p>
        </p:txBody>
      </p:sp>
      <p:sp>
        <p:nvSpPr>
          <p:cNvPr id="4" name="Text Placeholder 3">
            <a:extLst>
              <a:ext uri="{FF2B5EF4-FFF2-40B4-BE49-F238E27FC236}">
                <a16:creationId xmlns:a16="http://schemas.microsoft.com/office/drawing/2014/main" id="{4BDC3D5C-C637-B0C3-82CC-E850A7BAC861}"/>
              </a:ext>
            </a:extLst>
          </p:cNvPr>
          <p:cNvSpPr>
            <a:spLocks noGrp="1"/>
          </p:cNvSpPr>
          <p:nvPr>
            <p:ph type="body" sz="quarter" idx="15"/>
          </p:nvPr>
        </p:nvSpPr>
        <p:spPr>
          <a:xfrm>
            <a:off x="5921828" y="1860060"/>
            <a:ext cx="5431971" cy="557950"/>
          </a:xfrm>
        </p:spPr>
        <p:txBody>
          <a:bodyPr rtlCol="0">
            <a:normAutofit/>
          </a:bodyPr>
          <a:lstStyle/>
          <a:p>
            <a:pPr rtl="0"/>
            <a:r>
              <a:rPr lang="en-GB" dirty="0"/>
              <a:t>The game Ui should be catered to all mobile devices whilst also being very user-friendly.</a:t>
            </a:r>
          </a:p>
        </p:txBody>
      </p:sp>
      <p:sp>
        <p:nvSpPr>
          <p:cNvPr id="5" name="Text Placeholder 4">
            <a:extLst>
              <a:ext uri="{FF2B5EF4-FFF2-40B4-BE49-F238E27FC236}">
                <a16:creationId xmlns:a16="http://schemas.microsoft.com/office/drawing/2014/main" id="{2A8AAA0F-FE3F-6D7F-897E-A1008C377483}"/>
              </a:ext>
            </a:extLst>
          </p:cNvPr>
          <p:cNvSpPr>
            <a:spLocks noGrp="1"/>
          </p:cNvSpPr>
          <p:nvPr>
            <p:ph type="body" sz="quarter" idx="23"/>
          </p:nvPr>
        </p:nvSpPr>
        <p:spPr>
          <a:xfrm>
            <a:off x="5922254" y="2630431"/>
            <a:ext cx="5433204" cy="365125"/>
          </a:xfrm>
        </p:spPr>
        <p:txBody>
          <a:bodyPr rtlCol="0">
            <a:normAutofit lnSpcReduction="10000"/>
          </a:bodyPr>
          <a:lstStyle/>
          <a:p>
            <a:pPr rtl="0"/>
            <a:r>
              <a:rPr lang="en-GB" dirty="0"/>
              <a:t>Mobile-specific features</a:t>
            </a:r>
          </a:p>
        </p:txBody>
      </p:sp>
      <p:sp>
        <p:nvSpPr>
          <p:cNvPr id="6" name="Text Placeholder 5">
            <a:extLst>
              <a:ext uri="{FF2B5EF4-FFF2-40B4-BE49-F238E27FC236}">
                <a16:creationId xmlns:a16="http://schemas.microsoft.com/office/drawing/2014/main" id="{7D7C0282-63C9-0CCB-E295-1CEFC271FF77}"/>
              </a:ext>
            </a:extLst>
          </p:cNvPr>
          <p:cNvSpPr>
            <a:spLocks noGrp="1"/>
          </p:cNvSpPr>
          <p:nvPr>
            <p:ph type="body" sz="quarter" idx="24"/>
          </p:nvPr>
        </p:nvSpPr>
        <p:spPr>
          <a:xfrm>
            <a:off x="5921828" y="2959856"/>
            <a:ext cx="5431971" cy="557950"/>
          </a:xfrm>
        </p:spPr>
        <p:txBody>
          <a:bodyPr rtlCol="0"/>
          <a:lstStyle/>
          <a:p>
            <a:pPr rtl="0"/>
            <a:r>
              <a:rPr lang="en-GB" dirty="0"/>
              <a:t>The game would feature mobile-specific features such as the use of the gyroscope.</a:t>
            </a:r>
          </a:p>
        </p:txBody>
      </p:sp>
      <p:sp>
        <p:nvSpPr>
          <p:cNvPr id="7" name="Text Placeholder 6">
            <a:extLst>
              <a:ext uri="{FF2B5EF4-FFF2-40B4-BE49-F238E27FC236}">
                <a16:creationId xmlns:a16="http://schemas.microsoft.com/office/drawing/2014/main" id="{6265F680-CBCC-73B9-DE9E-9DE07BF2EEBE}"/>
              </a:ext>
            </a:extLst>
          </p:cNvPr>
          <p:cNvSpPr>
            <a:spLocks noGrp="1"/>
          </p:cNvSpPr>
          <p:nvPr>
            <p:ph type="body" sz="quarter" idx="25"/>
          </p:nvPr>
        </p:nvSpPr>
        <p:spPr>
          <a:xfrm>
            <a:off x="5922254" y="3730227"/>
            <a:ext cx="5433204" cy="365125"/>
          </a:xfrm>
        </p:spPr>
        <p:txBody>
          <a:bodyPr rtlCol="0">
            <a:normAutofit lnSpcReduction="10000"/>
          </a:bodyPr>
          <a:lstStyle/>
          <a:p>
            <a:pPr rtl="0"/>
            <a:r>
              <a:rPr lang="en-GB" dirty="0"/>
              <a:t>Use of Additional Libraries</a:t>
            </a:r>
          </a:p>
        </p:txBody>
      </p:sp>
      <p:sp>
        <p:nvSpPr>
          <p:cNvPr id="8" name="Text Placeholder 7">
            <a:extLst>
              <a:ext uri="{FF2B5EF4-FFF2-40B4-BE49-F238E27FC236}">
                <a16:creationId xmlns:a16="http://schemas.microsoft.com/office/drawing/2014/main" id="{18F87A3A-EE09-8924-B911-D443D4660F44}"/>
              </a:ext>
            </a:extLst>
          </p:cNvPr>
          <p:cNvSpPr>
            <a:spLocks noGrp="1"/>
          </p:cNvSpPr>
          <p:nvPr>
            <p:ph type="body" sz="quarter" idx="26"/>
          </p:nvPr>
        </p:nvSpPr>
        <p:spPr>
          <a:xfrm>
            <a:off x="5921828" y="4059652"/>
            <a:ext cx="5431971" cy="557950"/>
          </a:xfrm>
        </p:spPr>
        <p:txBody>
          <a:bodyPr rtlCol="0"/>
          <a:lstStyle/>
          <a:p>
            <a:pPr rtl="0"/>
            <a:r>
              <a:rPr lang="en-GB" dirty="0"/>
              <a:t>The game would use additional libraries for things that are not native in unity. For instance: </a:t>
            </a:r>
            <a:r>
              <a:rPr lang="en-GB" dirty="0" err="1"/>
              <a:t>TMPEffects</a:t>
            </a:r>
            <a:endParaRPr lang="en-GB" dirty="0"/>
          </a:p>
        </p:txBody>
      </p:sp>
      <p:sp>
        <p:nvSpPr>
          <p:cNvPr id="9" name="Text Placeholder 8">
            <a:extLst>
              <a:ext uri="{FF2B5EF4-FFF2-40B4-BE49-F238E27FC236}">
                <a16:creationId xmlns:a16="http://schemas.microsoft.com/office/drawing/2014/main" id="{DF36BB33-6156-86A8-74FC-721BB655D25A}"/>
              </a:ext>
            </a:extLst>
          </p:cNvPr>
          <p:cNvSpPr>
            <a:spLocks noGrp="1"/>
          </p:cNvSpPr>
          <p:nvPr>
            <p:ph type="body" sz="quarter" idx="27"/>
          </p:nvPr>
        </p:nvSpPr>
        <p:spPr>
          <a:xfrm>
            <a:off x="5920106" y="4830024"/>
            <a:ext cx="5433204" cy="365125"/>
          </a:xfrm>
        </p:spPr>
        <p:txBody>
          <a:bodyPr rtlCol="0">
            <a:normAutofit lnSpcReduction="10000"/>
          </a:bodyPr>
          <a:lstStyle/>
          <a:p>
            <a:r>
              <a:rPr lang="en-GB" dirty="0"/>
              <a:t>Use of Frameworks</a:t>
            </a:r>
          </a:p>
        </p:txBody>
      </p:sp>
      <p:sp>
        <p:nvSpPr>
          <p:cNvPr id="10" name="Text Placeholder 9">
            <a:extLst>
              <a:ext uri="{FF2B5EF4-FFF2-40B4-BE49-F238E27FC236}">
                <a16:creationId xmlns:a16="http://schemas.microsoft.com/office/drawing/2014/main" id="{F36629A4-46A2-DD09-8B47-E13624EC9992}"/>
              </a:ext>
            </a:extLst>
          </p:cNvPr>
          <p:cNvSpPr>
            <a:spLocks noGrp="1"/>
          </p:cNvSpPr>
          <p:nvPr>
            <p:ph type="body" sz="quarter" idx="28"/>
          </p:nvPr>
        </p:nvSpPr>
        <p:spPr>
          <a:xfrm>
            <a:off x="5919680" y="5159449"/>
            <a:ext cx="5431971" cy="557950"/>
          </a:xfrm>
        </p:spPr>
        <p:txBody>
          <a:bodyPr rtlCol="0"/>
          <a:lstStyle/>
          <a:p>
            <a:pPr rtl="0"/>
            <a:r>
              <a:rPr lang="en-GB" dirty="0"/>
              <a:t>The game would use frameworks to obtain data such as location, date and time and the weather at the current position of the device.</a:t>
            </a:r>
          </a:p>
        </p:txBody>
      </p:sp>
      <p:sp>
        <p:nvSpPr>
          <p:cNvPr id="20" name="Date Placeholder 19">
            <a:extLst>
              <a:ext uri="{FF2B5EF4-FFF2-40B4-BE49-F238E27FC236}">
                <a16:creationId xmlns:a16="http://schemas.microsoft.com/office/drawing/2014/main" id="{8F60D835-6DFF-C746-71D8-4CC1D91E6DDF}"/>
              </a:ext>
            </a:extLst>
          </p:cNvPr>
          <p:cNvSpPr>
            <a:spLocks noGrp="1"/>
          </p:cNvSpPr>
          <p:nvPr>
            <p:ph type="dt" sz="half" idx="20"/>
          </p:nvPr>
        </p:nvSpPr>
        <p:spPr>
          <a:xfrm>
            <a:off x="5919680" y="6356350"/>
            <a:ext cx="947516" cy="365125"/>
          </a:xfrm>
        </p:spPr>
        <p:txBody>
          <a:bodyPr rtlCol="0"/>
          <a:lstStyle/>
          <a:p>
            <a:pPr rtl="0"/>
            <a:r>
              <a:rPr lang="en-GB"/>
              <a:t>20XX</a:t>
            </a:r>
          </a:p>
        </p:txBody>
      </p:sp>
      <p:sp>
        <p:nvSpPr>
          <p:cNvPr id="21" name="Footer Placeholder 20">
            <a:extLst>
              <a:ext uri="{FF2B5EF4-FFF2-40B4-BE49-F238E27FC236}">
                <a16:creationId xmlns:a16="http://schemas.microsoft.com/office/drawing/2014/main" id="{BD3DD198-76E6-D03E-D78B-8B95299D7BFF}"/>
              </a:ext>
            </a:extLst>
          </p:cNvPr>
          <p:cNvSpPr>
            <a:spLocks noGrp="1"/>
          </p:cNvSpPr>
          <p:nvPr>
            <p:ph type="ftr" sz="quarter" idx="21"/>
          </p:nvPr>
        </p:nvSpPr>
        <p:spPr>
          <a:xfrm>
            <a:off x="7161955" y="6356350"/>
            <a:ext cx="3243942" cy="365125"/>
          </a:xfrm>
        </p:spPr>
        <p:txBody>
          <a:bodyPr rtlCol="0"/>
          <a:lstStyle/>
          <a:p>
            <a:pPr rtl="0"/>
            <a:r>
              <a:rPr lang="en-GB"/>
              <a:t>Pitch Deck</a:t>
            </a:r>
          </a:p>
        </p:txBody>
      </p:sp>
      <p:sp>
        <p:nvSpPr>
          <p:cNvPr id="22" name="Slide Number Placeholder 21">
            <a:extLst>
              <a:ext uri="{FF2B5EF4-FFF2-40B4-BE49-F238E27FC236}">
                <a16:creationId xmlns:a16="http://schemas.microsoft.com/office/drawing/2014/main" id="{D0404CB8-1E8C-87A7-0F53-339411BFFB6C}"/>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6</a:t>
            </a:fld>
            <a:endParaRPr lang="en-GB"/>
          </a:p>
        </p:txBody>
      </p:sp>
    </p:spTree>
    <p:extLst>
      <p:ext uri="{BB962C8B-B14F-4D97-AF65-F5344CB8AC3E}">
        <p14:creationId xmlns:p14="http://schemas.microsoft.com/office/powerpoint/2010/main" val="2652952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892177"/>
            <a:ext cx="8421688" cy="1325563"/>
          </a:xfrm>
        </p:spPr>
        <p:txBody>
          <a:bodyPr rtlCol="0"/>
          <a:lstStyle/>
          <a:p>
            <a:pPr rtl="0"/>
            <a:r>
              <a:rPr lang="en-GB" dirty="0"/>
              <a:t>Gameplay mechanics and objectives</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1243104" y="2217740"/>
            <a:ext cx="2882475" cy="823912"/>
          </a:xfrm>
        </p:spPr>
        <p:txBody>
          <a:bodyPr rtlCol="0"/>
          <a:lstStyle/>
          <a:p>
            <a:pPr rtl="0"/>
            <a:r>
              <a:rPr lang="en-GB" dirty="0"/>
              <a:t>Interaction with the bamboo</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1243104" y="3176338"/>
            <a:ext cx="2882475" cy="2656136"/>
          </a:xfrm>
        </p:spPr>
        <p:txBody>
          <a:bodyPr vert="horz" lIns="91440" tIns="45720" rIns="91440" bIns="45720" rtlCol="0" anchor="t">
            <a:normAutofit/>
          </a:bodyPr>
          <a:lstStyle/>
          <a:p>
            <a:pPr rtl="0"/>
            <a:r>
              <a:rPr lang="en-GB" noProof="1"/>
              <a:t>The player would be able to interact with the bamboo plant by tapping on the screen to increase its growth stages.</a:t>
            </a:r>
          </a:p>
          <a:p>
            <a:pPr rtl="0"/>
            <a:br>
              <a:rPr lang="en-GB" noProof="1"/>
            </a:br>
            <a:r>
              <a:rPr lang="en-GB" noProof="1"/>
              <a:t>The player would be able to move the phone to make the bamboo plant lean.</a:t>
            </a:r>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
          </p:nvPr>
        </p:nvSpPr>
        <p:spPr>
          <a:xfrm>
            <a:off x="4647665" y="2217740"/>
            <a:ext cx="2896671" cy="823912"/>
          </a:xfrm>
        </p:spPr>
        <p:txBody>
          <a:bodyPr rtlCol="0"/>
          <a:lstStyle/>
          <a:p>
            <a:pPr rtl="0"/>
            <a:r>
              <a:rPr lang="en-GB" dirty="0"/>
              <a:t>Live weather effects and day/night cycles</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4647665" y="3176338"/>
            <a:ext cx="2896671" cy="2656136"/>
          </a:xfrm>
        </p:spPr>
        <p:txBody>
          <a:bodyPr rtlCol="0">
            <a:normAutofit/>
          </a:bodyPr>
          <a:lstStyle/>
          <a:p>
            <a:pPr rtl="0"/>
            <a:r>
              <a:rPr lang="en-GB" dirty="0"/>
              <a:t>Game uses REST API to get the player’s location and uses OpenWeatherMap API to get the current weather status.</a:t>
            </a:r>
            <a:br>
              <a:rPr lang="en-GB" dirty="0"/>
            </a:br>
            <a:r>
              <a:rPr lang="en-GB" dirty="0"/>
              <a:t>With this, it will create effects in-game to emulate the real-life weather.</a:t>
            </a:r>
            <a:br>
              <a:rPr lang="en-GB" dirty="0"/>
            </a:br>
            <a:br>
              <a:rPr lang="en-GB" dirty="0"/>
            </a:br>
            <a:r>
              <a:rPr lang="en-GB" dirty="0"/>
              <a:t>Game also tracks device time and simulates the real-life day/night cycle.</a:t>
            </a:r>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8066421" y="2217740"/>
            <a:ext cx="2882475" cy="823912"/>
          </a:xfrm>
        </p:spPr>
        <p:txBody>
          <a:bodyPr vert="horz" lIns="91440" tIns="45720" rIns="91440" bIns="45720" rtlCol="0" anchor="b">
            <a:normAutofit/>
          </a:bodyPr>
          <a:lstStyle/>
          <a:p>
            <a:pPr rtl="0"/>
            <a:r>
              <a:rPr lang="en-GB" dirty="0"/>
              <a:t>Main objective</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3176338"/>
            <a:ext cx="2882475" cy="2656136"/>
          </a:xfrm>
        </p:spPr>
        <p:txBody>
          <a:bodyPr rtlCol="0"/>
          <a:lstStyle/>
          <a:p>
            <a:pPr rtl="0"/>
            <a:r>
              <a:rPr lang="en-GB" noProof="1"/>
              <a:t>The main game objective is to interact with the bamboo plant enough that it fully grows and then sell said plant. </a:t>
            </a:r>
          </a:p>
          <a:p>
            <a:pPr rtl="0"/>
            <a:br>
              <a:rPr lang="en-GB" noProof="1"/>
            </a:br>
            <a:r>
              <a:rPr lang="en-GB" noProof="1"/>
              <a:t>The player is encouraged to buy upgrades to increase a series of multipliers to gain more money.</a:t>
            </a:r>
          </a:p>
          <a:p>
            <a:pPr rtl="0"/>
            <a:endParaRPr lang="en-GB" dirty="0"/>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rtlCol="0"/>
          <a:lstStyle/>
          <a:p>
            <a:pPr rtl="0"/>
            <a:r>
              <a:rPr lang="en-GB"/>
              <a:t>Pitch Deck</a:t>
            </a:r>
            <a:endParaRPr lang="en-GB" dirty="0"/>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7</a:t>
            </a:fld>
            <a:endParaRPr lang="en-GB" dirty="0"/>
          </a:p>
        </p:txBody>
      </p:sp>
    </p:spTree>
    <p:extLst>
      <p:ext uri="{BB962C8B-B14F-4D97-AF65-F5344CB8AC3E}">
        <p14:creationId xmlns:p14="http://schemas.microsoft.com/office/powerpoint/2010/main" val="2121178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F9F8B-8726-7D60-7753-1B9C9129C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01831-7942-000D-789F-0F9C91E99B90}"/>
              </a:ext>
            </a:extLst>
          </p:cNvPr>
          <p:cNvSpPr>
            <a:spLocks noGrp="1"/>
          </p:cNvSpPr>
          <p:nvPr>
            <p:ph type="title"/>
          </p:nvPr>
        </p:nvSpPr>
        <p:spPr>
          <a:xfrm>
            <a:off x="1885156" y="362744"/>
            <a:ext cx="8421688" cy="1325563"/>
          </a:xfrm>
        </p:spPr>
        <p:txBody>
          <a:bodyPr rtlCol="0"/>
          <a:lstStyle/>
          <a:p>
            <a:pPr rtl="0"/>
            <a:r>
              <a:rPr lang="en-GB" dirty="0"/>
              <a:t>Current implemented Gameplay features</a:t>
            </a:r>
          </a:p>
        </p:txBody>
      </p:sp>
      <p:sp>
        <p:nvSpPr>
          <p:cNvPr id="4" name="Text Placeholder 3">
            <a:extLst>
              <a:ext uri="{FF2B5EF4-FFF2-40B4-BE49-F238E27FC236}">
                <a16:creationId xmlns:a16="http://schemas.microsoft.com/office/drawing/2014/main" id="{4897D222-43A8-32E8-B550-49C013FEB1D2}"/>
              </a:ext>
            </a:extLst>
          </p:cNvPr>
          <p:cNvSpPr>
            <a:spLocks noGrp="1"/>
          </p:cNvSpPr>
          <p:nvPr>
            <p:ph type="body" idx="1"/>
          </p:nvPr>
        </p:nvSpPr>
        <p:spPr>
          <a:xfrm>
            <a:off x="62910" y="1388271"/>
            <a:ext cx="2882475" cy="823912"/>
          </a:xfrm>
        </p:spPr>
        <p:txBody>
          <a:bodyPr rtlCol="0"/>
          <a:lstStyle/>
          <a:p>
            <a:pPr rtl="0"/>
            <a:r>
              <a:rPr lang="en-GB" dirty="0"/>
              <a:t>Interaction with the bamboo</a:t>
            </a:r>
          </a:p>
        </p:txBody>
      </p:sp>
      <p:sp>
        <p:nvSpPr>
          <p:cNvPr id="6" name="Text Placeholder 5">
            <a:extLst>
              <a:ext uri="{FF2B5EF4-FFF2-40B4-BE49-F238E27FC236}">
                <a16:creationId xmlns:a16="http://schemas.microsoft.com/office/drawing/2014/main" id="{90E1C494-8BED-4504-1606-F441A91F2614}"/>
              </a:ext>
            </a:extLst>
          </p:cNvPr>
          <p:cNvSpPr>
            <a:spLocks noGrp="1"/>
          </p:cNvSpPr>
          <p:nvPr>
            <p:ph type="body" sz="quarter" idx="3"/>
          </p:nvPr>
        </p:nvSpPr>
        <p:spPr>
          <a:xfrm>
            <a:off x="6026334" y="1683616"/>
            <a:ext cx="2896671" cy="823912"/>
          </a:xfrm>
        </p:spPr>
        <p:txBody>
          <a:bodyPr rtlCol="0"/>
          <a:lstStyle/>
          <a:p>
            <a:pPr rtl="0"/>
            <a:r>
              <a:rPr lang="en-GB" dirty="0"/>
              <a:t>Live weather effects and day/night cycles</a:t>
            </a:r>
          </a:p>
        </p:txBody>
      </p:sp>
      <p:sp>
        <p:nvSpPr>
          <p:cNvPr id="9" name="Date Placeholder 8">
            <a:extLst>
              <a:ext uri="{FF2B5EF4-FFF2-40B4-BE49-F238E27FC236}">
                <a16:creationId xmlns:a16="http://schemas.microsoft.com/office/drawing/2014/main" id="{B6C86F39-BC42-A638-0A2E-3DCFB138D369}"/>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10" name="Footer Placeholder 9">
            <a:extLst>
              <a:ext uri="{FF2B5EF4-FFF2-40B4-BE49-F238E27FC236}">
                <a16:creationId xmlns:a16="http://schemas.microsoft.com/office/drawing/2014/main" id="{52E24132-A6C6-0F34-FA1E-FE10CD437F34}"/>
              </a:ext>
            </a:extLst>
          </p:cNvPr>
          <p:cNvSpPr>
            <a:spLocks noGrp="1"/>
          </p:cNvSpPr>
          <p:nvPr>
            <p:ph type="ftr" sz="quarter" idx="11"/>
          </p:nvPr>
        </p:nvSpPr>
        <p:spPr>
          <a:xfrm>
            <a:off x="4038600" y="6356350"/>
            <a:ext cx="4114800" cy="365125"/>
          </a:xfrm>
        </p:spPr>
        <p:txBody>
          <a:bodyPr rtlCol="0"/>
          <a:lstStyle/>
          <a:p>
            <a:pPr rtl="0"/>
            <a:r>
              <a:rPr lang="en-GB"/>
              <a:t>Pitch Deck</a:t>
            </a:r>
            <a:endParaRPr lang="en-GB" dirty="0"/>
          </a:p>
        </p:txBody>
      </p:sp>
      <p:sp>
        <p:nvSpPr>
          <p:cNvPr id="11" name="Slide Number Placeholder 10">
            <a:extLst>
              <a:ext uri="{FF2B5EF4-FFF2-40B4-BE49-F238E27FC236}">
                <a16:creationId xmlns:a16="http://schemas.microsoft.com/office/drawing/2014/main" id="{B73C833D-0D5D-086D-132D-C996B67699FA}"/>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8</a:t>
            </a:fld>
            <a:endParaRPr lang="en-GB" dirty="0"/>
          </a:p>
        </p:txBody>
      </p:sp>
      <p:pic>
        <p:nvPicPr>
          <p:cNvPr id="15" name="Picture 14" descr="A screenshot of a video game&#10;&#10;AI-generated content may be incorrect.">
            <a:extLst>
              <a:ext uri="{FF2B5EF4-FFF2-40B4-BE49-F238E27FC236}">
                <a16:creationId xmlns:a16="http://schemas.microsoft.com/office/drawing/2014/main" id="{BB98CECB-9F69-A503-EF76-BC09E0278637}"/>
              </a:ext>
            </a:extLst>
          </p:cNvPr>
          <p:cNvPicPr>
            <a:picLocks noChangeAspect="1"/>
          </p:cNvPicPr>
          <p:nvPr/>
        </p:nvPicPr>
        <p:blipFill>
          <a:blip r:embed="rId3"/>
          <a:stretch>
            <a:fillRect/>
          </a:stretch>
        </p:blipFill>
        <p:spPr>
          <a:xfrm>
            <a:off x="2762311" y="1606826"/>
            <a:ext cx="1941897" cy="4042611"/>
          </a:xfrm>
          <a:prstGeom prst="rect">
            <a:avLst/>
          </a:prstGeom>
        </p:spPr>
      </p:pic>
      <p:pic>
        <p:nvPicPr>
          <p:cNvPr id="19" name="Picture 18" descr="A screenshot of a video game&#10;&#10;AI-generated content may be incorrect.">
            <a:extLst>
              <a:ext uri="{FF2B5EF4-FFF2-40B4-BE49-F238E27FC236}">
                <a16:creationId xmlns:a16="http://schemas.microsoft.com/office/drawing/2014/main" id="{FF7BB6E0-4905-1CD4-CC06-A6D5FE51B4B9}"/>
              </a:ext>
            </a:extLst>
          </p:cNvPr>
          <p:cNvPicPr>
            <a:picLocks noChangeAspect="1"/>
          </p:cNvPicPr>
          <p:nvPr/>
        </p:nvPicPr>
        <p:blipFill>
          <a:blip r:embed="rId4"/>
          <a:stretch>
            <a:fillRect/>
          </a:stretch>
        </p:blipFill>
        <p:spPr>
          <a:xfrm>
            <a:off x="8923005" y="1602338"/>
            <a:ext cx="1991700" cy="4042612"/>
          </a:xfrm>
          <a:prstGeom prst="rect">
            <a:avLst/>
          </a:prstGeom>
        </p:spPr>
      </p:pic>
    </p:spTree>
    <p:extLst>
      <p:ext uri="{BB962C8B-B14F-4D97-AF65-F5344CB8AC3E}">
        <p14:creationId xmlns:p14="http://schemas.microsoft.com/office/powerpoint/2010/main" val="972304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FF92B-2197-D329-A33E-F1B93BB53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5BF17B-75E8-1225-D064-1A87DED953A3}"/>
              </a:ext>
            </a:extLst>
          </p:cNvPr>
          <p:cNvSpPr>
            <a:spLocks noGrp="1"/>
          </p:cNvSpPr>
          <p:nvPr>
            <p:ph type="title"/>
          </p:nvPr>
        </p:nvSpPr>
        <p:spPr>
          <a:xfrm>
            <a:off x="1885156" y="362744"/>
            <a:ext cx="8421688" cy="1325563"/>
          </a:xfrm>
        </p:spPr>
        <p:txBody>
          <a:bodyPr rtlCol="0"/>
          <a:lstStyle/>
          <a:p>
            <a:pPr rtl="0"/>
            <a:r>
              <a:rPr lang="en-GB" dirty="0"/>
              <a:t>Current implemented Gameplay features</a:t>
            </a:r>
          </a:p>
        </p:txBody>
      </p:sp>
      <p:sp>
        <p:nvSpPr>
          <p:cNvPr id="5" name="Content Placeholder 4">
            <a:extLst>
              <a:ext uri="{FF2B5EF4-FFF2-40B4-BE49-F238E27FC236}">
                <a16:creationId xmlns:a16="http://schemas.microsoft.com/office/drawing/2014/main" id="{257DE2E4-420E-BCA0-E61A-2331D9650790}"/>
              </a:ext>
            </a:extLst>
          </p:cNvPr>
          <p:cNvSpPr>
            <a:spLocks noGrp="1"/>
          </p:cNvSpPr>
          <p:nvPr>
            <p:ph type="body" idx="13"/>
          </p:nvPr>
        </p:nvSpPr>
        <p:spPr>
          <a:xfrm>
            <a:off x="202194" y="1787128"/>
            <a:ext cx="2882475" cy="823912"/>
          </a:xfrm>
        </p:spPr>
        <p:txBody>
          <a:bodyPr vert="horz" lIns="91440" tIns="45720" rIns="91440" bIns="45720" rtlCol="0" anchor="b">
            <a:normAutofit/>
          </a:bodyPr>
          <a:lstStyle/>
          <a:p>
            <a:pPr rtl="0"/>
            <a:r>
              <a:rPr lang="en-GB" dirty="0"/>
              <a:t>Data persistence</a:t>
            </a:r>
          </a:p>
        </p:txBody>
      </p:sp>
      <p:sp>
        <p:nvSpPr>
          <p:cNvPr id="9" name="Date Placeholder 8">
            <a:extLst>
              <a:ext uri="{FF2B5EF4-FFF2-40B4-BE49-F238E27FC236}">
                <a16:creationId xmlns:a16="http://schemas.microsoft.com/office/drawing/2014/main" id="{2C0BDE2E-A398-659C-986B-44C535758C7D}"/>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10" name="Footer Placeholder 9">
            <a:extLst>
              <a:ext uri="{FF2B5EF4-FFF2-40B4-BE49-F238E27FC236}">
                <a16:creationId xmlns:a16="http://schemas.microsoft.com/office/drawing/2014/main" id="{B9847AD4-077D-2496-3FAF-7B83A5C76EC8}"/>
              </a:ext>
            </a:extLst>
          </p:cNvPr>
          <p:cNvSpPr>
            <a:spLocks noGrp="1"/>
          </p:cNvSpPr>
          <p:nvPr>
            <p:ph type="ftr" sz="quarter" idx="11"/>
          </p:nvPr>
        </p:nvSpPr>
        <p:spPr>
          <a:xfrm>
            <a:off x="4038600" y="6356350"/>
            <a:ext cx="4114800" cy="365125"/>
          </a:xfrm>
        </p:spPr>
        <p:txBody>
          <a:bodyPr rtlCol="0"/>
          <a:lstStyle/>
          <a:p>
            <a:pPr rtl="0"/>
            <a:r>
              <a:rPr lang="en-GB"/>
              <a:t>Pitch Deck</a:t>
            </a:r>
            <a:endParaRPr lang="en-GB" dirty="0"/>
          </a:p>
        </p:txBody>
      </p:sp>
      <p:sp>
        <p:nvSpPr>
          <p:cNvPr id="11" name="Slide Number Placeholder 10">
            <a:extLst>
              <a:ext uri="{FF2B5EF4-FFF2-40B4-BE49-F238E27FC236}">
                <a16:creationId xmlns:a16="http://schemas.microsoft.com/office/drawing/2014/main" id="{26A71D69-5FEE-A4E5-315A-BB856BAAA08E}"/>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9</a:t>
            </a:fld>
            <a:endParaRPr lang="en-GB" dirty="0"/>
          </a:p>
        </p:txBody>
      </p:sp>
      <p:pic>
        <p:nvPicPr>
          <p:cNvPr id="21" name="Picture 20" descr="A screen shot of a video game&#10;&#10;AI-generated content may be incorrect.">
            <a:extLst>
              <a:ext uri="{FF2B5EF4-FFF2-40B4-BE49-F238E27FC236}">
                <a16:creationId xmlns:a16="http://schemas.microsoft.com/office/drawing/2014/main" id="{C9550A4A-716B-13E7-D082-7333A4CE91EC}"/>
              </a:ext>
            </a:extLst>
          </p:cNvPr>
          <p:cNvPicPr>
            <a:picLocks noChangeAspect="1"/>
          </p:cNvPicPr>
          <p:nvPr/>
        </p:nvPicPr>
        <p:blipFill>
          <a:blip r:embed="rId3"/>
          <a:stretch>
            <a:fillRect/>
          </a:stretch>
        </p:blipFill>
        <p:spPr>
          <a:xfrm>
            <a:off x="142081" y="2808686"/>
            <a:ext cx="3486150" cy="1438275"/>
          </a:xfrm>
          <a:prstGeom prst="rect">
            <a:avLst/>
          </a:prstGeom>
        </p:spPr>
      </p:pic>
      <p:pic>
        <p:nvPicPr>
          <p:cNvPr id="25" name="Picture 24">
            <a:extLst>
              <a:ext uri="{FF2B5EF4-FFF2-40B4-BE49-F238E27FC236}">
                <a16:creationId xmlns:a16="http://schemas.microsoft.com/office/drawing/2014/main" id="{CA6603F6-E75E-3231-2769-D0B07CE5A0E2}"/>
              </a:ext>
            </a:extLst>
          </p:cNvPr>
          <p:cNvPicPr>
            <a:picLocks noChangeAspect="1"/>
          </p:cNvPicPr>
          <p:nvPr/>
        </p:nvPicPr>
        <p:blipFill>
          <a:blip r:embed="rId4"/>
          <a:stretch>
            <a:fillRect/>
          </a:stretch>
        </p:blipFill>
        <p:spPr>
          <a:xfrm>
            <a:off x="142081" y="4981353"/>
            <a:ext cx="8801907" cy="320302"/>
          </a:xfrm>
          <a:prstGeom prst="rect">
            <a:avLst/>
          </a:prstGeom>
        </p:spPr>
      </p:pic>
      <p:sp>
        <p:nvSpPr>
          <p:cNvPr id="30" name="Content Placeholder 4">
            <a:extLst>
              <a:ext uri="{FF2B5EF4-FFF2-40B4-BE49-F238E27FC236}">
                <a16:creationId xmlns:a16="http://schemas.microsoft.com/office/drawing/2014/main" id="{3F41A35A-93BE-C00D-66FE-6DBCD91F269B}"/>
              </a:ext>
            </a:extLst>
          </p:cNvPr>
          <p:cNvSpPr txBox="1">
            <a:spLocks/>
          </p:cNvSpPr>
          <p:nvPr/>
        </p:nvSpPr>
        <p:spPr>
          <a:xfrm>
            <a:off x="6561044" y="1919090"/>
            <a:ext cx="2882475"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lang="en-US" sz="2000" kern="1200" cap="all" spc="150" baseline="0" dirty="0" smtClean="0">
                <a:solidFill>
                  <a:schemeClr val="tx1"/>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dirty="0"/>
              <a:t>Tracking of device data</a:t>
            </a:r>
          </a:p>
        </p:txBody>
      </p:sp>
      <p:pic>
        <p:nvPicPr>
          <p:cNvPr id="32" name="Picture 31">
            <a:extLst>
              <a:ext uri="{FF2B5EF4-FFF2-40B4-BE49-F238E27FC236}">
                <a16:creationId xmlns:a16="http://schemas.microsoft.com/office/drawing/2014/main" id="{B55906D3-7CE6-FB20-4CB1-9D48442518CC}"/>
              </a:ext>
            </a:extLst>
          </p:cNvPr>
          <p:cNvPicPr>
            <a:picLocks noChangeAspect="1"/>
          </p:cNvPicPr>
          <p:nvPr/>
        </p:nvPicPr>
        <p:blipFill>
          <a:blip r:embed="rId5"/>
          <a:stretch>
            <a:fillRect/>
          </a:stretch>
        </p:blipFill>
        <p:spPr>
          <a:xfrm>
            <a:off x="6561044" y="2808686"/>
            <a:ext cx="2333951" cy="819264"/>
          </a:xfrm>
          <a:prstGeom prst="rect">
            <a:avLst/>
          </a:prstGeom>
        </p:spPr>
      </p:pic>
      <p:pic>
        <p:nvPicPr>
          <p:cNvPr id="34" name="Picture 33">
            <a:extLst>
              <a:ext uri="{FF2B5EF4-FFF2-40B4-BE49-F238E27FC236}">
                <a16:creationId xmlns:a16="http://schemas.microsoft.com/office/drawing/2014/main" id="{422FAC70-F35C-B1BB-77CB-A277176ECB89}"/>
              </a:ext>
            </a:extLst>
          </p:cNvPr>
          <p:cNvPicPr>
            <a:picLocks noChangeAspect="1"/>
          </p:cNvPicPr>
          <p:nvPr/>
        </p:nvPicPr>
        <p:blipFill>
          <a:blip r:embed="rId6"/>
          <a:stretch>
            <a:fillRect/>
          </a:stretch>
        </p:blipFill>
        <p:spPr>
          <a:xfrm>
            <a:off x="6561044" y="3627950"/>
            <a:ext cx="2657846" cy="1114581"/>
          </a:xfrm>
          <a:prstGeom prst="rect">
            <a:avLst/>
          </a:prstGeom>
        </p:spPr>
      </p:pic>
    </p:spTree>
    <p:extLst>
      <p:ext uri="{BB962C8B-B14F-4D97-AF65-F5344CB8AC3E}">
        <p14:creationId xmlns:p14="http://schemas.microsoft.com/office/powerpoint/2010/main" val="2822424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50E90-E616-5F57-5EC1-1F22CAA15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335BA-CC4B-5B25-4C68-898112DE43C1}"/>
              </a:ext>
            </a:extLst>
          </p:cNvPr>
          <p:cNvSpPr>
            <a:spLocks noGrp="1"/>
          </p:cNvSpPr>
          <p:nvPr>
            <p:ph type="title"/>
          </p:nvPr>
        </p:nvSpPr>
        <p:spPr>
          <a:xfrm>
            <a:off x="1885156" y="362744"/>
            <a:ext cx="8421688" cy="1325563"/>
          </a:xfrm>
        </p:spPr>
        <p:txBody>
          <a:bodyPr rtlCol="0"/>
          <a:lstStyle/>
          <a:p>
            <a:pPr rtl="0"/>
            <a:r>
              <a:rPr lang="en-GB" dirty="0"/>
              <a:t>Current implemented Gameplay features</a:t>
            </a:r>
          </a:p>
        </p:txBody>
      </p:sp>
      <p:sp>
        <p:nvSpPr>
          <p:cNvPr id="5" name="Content Placeholder 4">
            <a:extLst>
              <a:ext uri="{FF2B5EF4-FFF2-40B4-BE49-F238E27FC236}">
                <a16:creationId xmlns:a16="http://schemas.microsoft.com/office/drawing/2014/main" id="{2D4765AB-0735-B7BC-4B76-CE80AE159B70}"/>
              </a:ext>
            </a:extLst>
          </p:cNvPr>
          <p:cNvSpPr>
            <a:spLocks noGrp="1"/>
          </p:cNvSpPr>
          <p:nvPr>
            <p:ph type="body" idx="13"/>
          </p:nvPr>
        </p:nvSpPr>
        <p:spPr>
          <a:xfrm>
            <a:off x="202194" y="1787128"/>
            <a:ext cx="2882475" cy="823912"/>
          </a:xfrm>
        </p:spPr>
        <p:txBody>
          <a:bodyPr vert="horz" lIns="91440" tIns="45720" rIns="91440" bIns="45720" rtlCol="0" anchor="b">
            <a:normAutofit fontScale="92500"/>
          </a:bodyPr>
          <a:lstStyle/>
          <a:p>
            <a:pPr rtl="0"/>
            <a:r>
              <a:rPr lang="en-GB" dirty="0"/>
              <a:t>Functional Ui that scales with device</a:t>
            </a:r>
          </a:p>
        </p:txBody>
      </p:sp>
      <p:sp>
        <p:nvSpPr>
          <p:cNvPr id="9" name="Date Placeholder 8">
            <a:extLst>
              <a:ext uri="{FF2B5EF4-FFF2-40B4-BE49-F238E27FC236}">
                <a16:creationId xmlns:a16="http://schemas.microsoft.com/office/drawing/2014/main" id="{DF4B22B1-1632-9797-3166-BB88ABEFFF47}"/>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10" name="Footer Placeholder 9">
            <a:extLst>
              <a:ext uri="{FF2B5EF4-FFF2-40B4-BE49-F238E27FC236}">
                <a16:creationId xmlns:a16="http://schemas.microsoft.com/office/drawing/2014/main" id="{3079DE76-37F6-DFA1-B275-136757CD268F}"/>
              </a:ext>
            </a:extLst>
          </p:cNvPr>
          <p:cNvSpPr>
            <a:spLocks noGrp="1"/>
          </p:cNvSpPr>
          <p:nvPr>
            <p:ph type="ftr" sz="quarter" idx="11"/>
          </p:nvPr>
        </p:nvSpPr>
        <p:spPr>
          <a:xfrm>
            <a:off x="4038600" y="6356350"/>
            <a:ext cx="4114800" cy="365125"/>
          </a:xfrm>
        </p:spPr>
        <p:txBody>
          <a:bodyPr rtlCol="0"/>
          <a:lstStyle/>
          <a:p>
            <a:pPr rtl="0"/>
            <a:r>
              <a:rPr lang="en-GB"/>
              <a:t>Pitch Deck</a:t>
            </a:r>
            <a:endParaRPr lang="en-GB" dirty="0"/>
          </a:p>
        </p:txBody>
      </p:sp>
      <p:sp>
        <p:nvSpPr>
          <p:cNvPr id="11" name="Slide Number Placeholder 10">
            <a:extLst>
              <a:ext uri="{FF2B5EF4-FFF2-40B4-BE49-F238E27FC236}">
                <a16:creationId xmlns:a16="http://schemas.microsoft.com/office/drawing/2014/main" id="{0F526FEF-1A0D-81A1-90E0-D40CCA1B11D9}"/>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10</a:t>
            </a:fld>
            <a:endParaRPr lang="en-GB" dirty="0"/>
          </a:p>
        </p:txBody>
      </p:sp>
      <p:sp>
        <p:nvSpPr>
          <p:cNvPr id="30" name="Content Placeholder 4">
            <a:extLst>
              <a:ext uri="{FF2B5EF4-FFF2-40B4-BE49-F238E27FC236}">
                <a16:creationId xmlns:a16="http://schemas.microsoft.com/office/drawing/2014/main" id="{2BB9F63C-8BEE-C92B-0C2A-F04E91723A1A}"/>
              </a:ext>
            </a:extLst>
          </p:cNvPr>
          <p:cNvSpPr txBox="1">
            <a:spLocks/>
          </p:cNvSpPr>
          <p:nvPr/>
        </p:nvSpPr>
        <p:spPr>
          <a:xfrm>
            <a:off x="6561044" y="1919090"/>
            <a:ext cx="2882475"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lang="en-US" sz="2000" kern="1200" cap="all" spc="150" baseline="0" dirty="0" smtClean="0">
                <a:solidFill>
                  <a:schemeClr val="tx1"/>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dirty="0"/>
              <a:t>Vibrations and haptics</a:t>
            </a:r>
          </a:p>
        </p:txBody>
      </p:sp>
      <p:pic>
        <p:nvPicPr>
          <p:cNvPr id="4" name="Picture 3" descr="A screenshot of a music player&#10;&#10;AI-generated content may be incorrect.">
            <a:extLst>
              <a:ext uri="{FF2B5EF4-FFF2-40B4-BE49-F238E27FC236}">
                <a16:creationId xmlns:a16="http://schemas.microsoft.com/office/drawing/2014/main" id="{C6D32CC7-E45E-9C3B-08D5-84EEF645F94C}"/>
              </a:ext>
            </a:extLst>
          </p:cNvPr>
          <p:cNvPicPr>
            <a:picLocks noChangeAspect="1"/>
          </p:cNvPicPr>
          <p:nvPr/>
        </p:nvPicPr>
        <p:blipFill>
          <a:blip r:embed="rId3"/>
          <a:stretch>
            <a:fillRect/>
          </a:stretch>
        </p:blipFill>
        <p:spPr>
          <a:xfrm>
            <a:off x="178134" y="2706381"/>
            <a:ext cx="2906535" cy="3788875"/>
          </a:xfrm>
          <a:prstGeom prst="rect">
            <a:avLst/>
          </a:prstGeom>
        </p:spPr>
      </p:pic>
      <p:pic>
        <p:nvPicPr>
          <p:cNvPr id="7" name="Picture 6">
            <a:extLst>
              <a:ext uri="{FF2B5EF4-FFF2-40B4-BE49-F238E27FC236}">
                <a16:creationId xmlns:a16="http://schemas.microsoft.com/office/drawing/2014/main" id="{14F0511F-2401-1F3A-D765-83D0D429F00E}"/>
              </a:ext>
            </a:extLst>
          </p:cNvPr>
          <p:cNvPicPr>
            <a:picLocks noChangeAspect="1"/>
          </p:cNvPicPr>
          <p:nvPr/>
        </p:nvPicPr>
        <p:blipFill>
          <a:blip r:embed="rId4"/>
          <a:stretch>
            <a:fillRect/>
          </a:stretch>
        </p:blipFill>
        <p:spPr>
          <a:xfrm>
            <a:off x="6652948" y="2844463"/>
            <a:ext cx="3781953" cy="3410426"/>
          </a:xfrm>
          <a:prstGeom prst="rect">
            <a:avLst/>
          </a:prstGeom>
        </p:spPr>
      </p:pic>
    </p:spTree>
    <p:extLst>
      <p:ext uri="{BB962C8B-B14F-4D97-AF65-F5344CB8AC3E}">
        <p14:creationId xmlns:p14="http://schemas.microsoft.com/office/powerpoint/2010/main" val="3761642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3729-93E6-CBFF-CE85-70381D10B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92F57-2EB9-B118-0CB3-40C4B9832A94}"/>
              </a:ext>
            </a:extLst>
          </p:cNvPr>
          <p:cNvSpPr>
            <a:spLocks noGrp="1"/>
          </p:cNvSpPr>
          <p:nvPr>
            <p:ph type="title"/>
          </p:nvPr>
        </p:nvSpPr>
        <p:spPr>
          <a:xfrm>
            <a:off x="838445" y="813471"/>
            <a:ext cx="10515109" cy="557951"/>
          </a:xfrm>
        </p:spPr>
        <p:txBody>
          <a:bodyPr rtlCol="0"/>
          <a:lstStyle/>
          <a:p>
            <a:pPr algn="ctr" rtl="0"/>
            <a:r>
              <a:rPr lang="en-GB" dirty="0"/>
              <a:t>Code Screenshots</a:t>
            </a:r>
          </a:p>
        </p:txBody>
      </p:sp>
      <p:sp>
        <p:nvSpPr>
          <p:cNvPr id="3" name="Content Placeholder 2">
            <a:extLst>
              <a:ext uri="{FF2B5EF4-FFF2-40B4-BE49-F238E27FC236}">
                <a16:creationId xmlns:a16="http://schemas.microsoft.com/office/drawing/2014/main" id="{1B9D4945-0C22-EE35-31FA-FFEE2C4193C2}"/>
              </a:ext>
            </a:extLst>
          </p:cNvPr>
          <p:cNvSpPr>
            <a:spLocks noGrp="1"/>
          </p:cNvSpPr>
          <p:nvPr>
            <p:ph type="body" sz="quarter" idx="13"/>
          </p:nvPr>
        </p:nvSpPr>
        <p:spPr>
          <a:xfrm>
            <a:off x="0" y="1860060"/>
            <a:ext cx="3576119" cy="305578"/>
          </a:xfrm>
        </p:spPr>
        <p:txBody>
          <a:bodyPr vert="horz" lIns="91440" tIns="45720" rIns="91440" bIns="45720" rtlCol="0" anchor="t">
            <a:normAutofit/>
          </a:bodyPr>
          <a:lstStyle/>
          <a:p>
            <a:pPr rtl="0"/>
            <a:r>
              <a:rPr lang="en-GB" sz="1400" dirty="0"/>
              <a:t>Data persistence between sessions</a:t>
            </a:r>
          </a:p>
        </p:txBody>
      </p:sp>
      <p:sp>
        <p:nvSpPr>
          <p:cNvPr id="20" name="Date Placeholder 19">
            <a:extLst>
              <a:ext uri="{FF2B5EF4-FFF2-40B4-BE49-F238E27FC236}">
                <a16:creationId xmlns:a16="http://schemas.microsoft.com/office/drawing/2014/main" id="{B4AAED52-11CD-DD91-9139-D08B8E42C65E}"/>
              </a:ext>
            </a:extLst>
          </p:cNvPr>
          <p:cNvSpPr>
            <a:spLocks noGrp="1"/>
          </p:cNvSpPr>
          <p:nvPr>
            <p:ph type="dt" sz="half" idx="20"/>
          </p:nvPr>
        </p:nvSpPr>
        <p:spPr>
          <a:xfrm>
            <a:off x="5919680" y="6356350"/>
            <a:ext cx="947516" cy="365125"/>
          </a:xfrm>
        </p:spPr>
        <p:txBody>
          <a:bodyPr rtlCol="0"/>
          <a:lstStyle/>
          <a:p>
            <a:pPr rtl="0"/>
            <a:r>
              <a:rPr lang="en-GB"/>
              <a:t>20XX</a:t>
            </a:r>
          </a:p>
        </p:txBody>
      </p:sp>
      <p:sp>
        <p:nvSpPr>
          <p:cNvPr id="21" name="Footer Placeholder 20">
            <a:extLst>
              <a:ext uri="{FF2B5EF4-FFF2-40B4-BE49-F238E27FC236}">
                <a16:creationId xmlns:a16="http://schemas.microsoft.com/office/drawing/2014/main" id="{155D81B7-54B8-6133-96AB-85EBF4D89133}"/>
              </a:ext>
            </a:extLst>
          </p:cNvPr>
          <p:cNvSpPr>
            <a:spLocks noGrp="1"/>
          </p:cNvSpPr>
          <p:nvPr>
            <p:ph type="ftr" sz="quarter" idx="21"/>
          </p:nvPr>
        </p:nvSpPr>
        <p:spPr>
          <a:xfrm>
            <a:off x="7161955" y="6356350"/>
            <a:ext cx="3243942" cy="365125"/>
          </a:xfrm>
        </p:spPr>
        <p:txBody>
          <a:bodyPr rtlCol="0"/>
          <a:lstStyle/>
          <a:p>
            <a:pPr rtl="0"/>
            <a:r>
              <a:rPr lang="en-GB"/>
              <a:t>Pitch Deck</a:t>
            </a:r>
          </a:p>
        </p:txBody>
      </p:sp>
      <p:sp>
        <p:nvSpPr>
          <p:cNvPr id="22" name="Slide Number Placeholder 21">
            <a:extLst>
              <a:ext uri="{FF2B5EF4-FFF2-40B4-BE49-F238E27FC236}">
                <a16:creationId xmlns:a16="http://schemas.microsoft.com/office/drawing/2014/main" id="{B5187DC7-47F2-8FDE-B2DA-BAC8D85298B7}"/>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11</a:t>
            </a:fld>
            <a:endParaRPr lang="en-GB"/>
          </a:p>
        </p:txBody>
      </p:sp>
      <p:sp>
        <p:nvSpPr>
          <p:cNvPr id="28" name="Content Placeholder 2">
            <a:extLst>
              <a:ext uri="{FF2B5EF4-FFF2-40B4-BE49-F238E27FC236}">
                <a16:creationId xmlns:a16="http://schemas.microsoft.com/office/drawing/2014/main" id="{C096D7AB-EDCB-65F0-4EF2-530FD6EED461}"/>
              </a:ext>
            </a:extLst>
          </p:cNvPr>
          <p:cNvSpPr txBox="1">
            <a:spLocks/>
          </p:cNvSpPr>
          <p:nvPr/>
        </p:nvSpPr>
        <p:spPr>
          <a:xfrm>
            <a:off x="4306460" y="1843364"/>
            <a:ext cx="2855495" cy="305578"/>
          </a:xfrm>
          <a:prstGeom prst="rect">
            <a:avLst/>
          </a:prstGeom>
        </p:spPr>
        <p:txBody>
          <a:bodyPr vert="horz" lIns="91440" tIns="45720" rIns="91440" bIns="45720" rtlCol="0" anchor="t">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Live location</a:t>
            </a:r>
          </a:p>
        </p:txBody>
      </p:sp>
      <p:sp>
        <p:nvSpPr>
          <p:cNvPr id="29" name="Content Placeholder 2">
            <a:extLst>
              <a:ext uri="{FF2B5EF4-FFF2-40B4-BE49-F238E27FC236}">
                <a16:creationId xmlns:a16="http://schemas.microsoft.com/office/drawing/2014/main" id="{96939411-3D74-51C0-C07C-37458AD44D67}"/>
              </a:ext>
            </a:extLst>
          </p:cNvPr>
          <p:cNvSpPr txBox="1">
            <a:spLocks/>
          </p:cNvSpPr>
          <p:nvPr/>
        </p:nvSpPr>
        <p:spPr>
          <a:xfrm>
            <a:off x="562553" y="4906808"/>
            <a:ext cx="3013566" cy="305578"/>
          </a:xfrm>
          <a:prstGeom prst="rect">
            <a:avLst/>
          </a:prstGeom>
        </p:spPr>
        <p:txBody>
          <a:bodyPr vert="horz" lIns="91440" tIns="45720" rIns="91440" bIns="45720" rtlCol="0" anchor="t">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Vibrations</a:t>
            </a:r>
          </a:p>
        </p:txBody>
      </p:sp>
      <p:sp>
        <p:nvSpPr>
          <p:cNvPr id="30" name="Content Placeholder 2">
            <a:extLst>
              <a:ext uri="{FF2B5EF4-FFF2-40B4-BE49-F238E27FC236}">
                <a16:creationId xmlns:a16="http://schemas.microsoft.com/office/drawing/2014/main" id="{C331B6EF-2D8A-7E51-6DF2-06255FEC7A3E}"/>
              </a:ext>
            </a:extLst>
          </p:cNvPr>
          <p:cNvSpPr txBox="1">
            <a:spLocks/>
          </p:cNvSpPr>
          <p:nvPr/>
        </p:nvSpPr>
        <p:spPr>
          <a:xfrm>
            <a:off x="7299158" y="1739689"/>
            <a:ext cx="4892842" cy="305578"/>
          </a:xfrm>
          <a:prstGeom prst="rect">
            <a:avLst/>
          </a:prstGeom>
        </p:spPr>
        <p:txBody>
          <a:bodyPr vert="horz" lIns="91440" tIns="45720" rIns="91440" bIns="45720" rtlCol="0" anchor="t">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Weather affecting income/growth</a:t>
            </a:r>
          </a:p>
        </p:txBody>
      </p:sp>
      <p:sp>
        <p:nvSpPr>
          <p:cNvPr id="31" name="Content Placeholder 2">
            <a:extLst>
              <a:ext uri="{FF2B5EF4-FFF2-40B4-BE49-F238E27FC236}">
                <a16:creationId xmlns:a16="http://schemas.microsoft.com/office/drawing/2014/main" id="{BE448C5A-2993-5993-AD4C-48FB868148B7}"/>
              </a:ext>
            </a:extLst>
          </p:cNvPr>
          <p:cNvSpPr txBox="1">
            <a:spLocks/>
          </p:cNvSpPr>
          <p:nvPr/>
        </p:nvSpPr>
        <p:spPr>
          <a:xfrm>
            <a:off x="5439448" y="4819829"/>
            <a:ext cx="2855495" cy="305578"/>
          </a:xfrm>
          <a:prstGeom prst="rect">
            <a:avLst/>
          </a:prstGeom>
        </p:spPr>
        <p:txBody>
          <a:bodyPr vert="horz" lIns="91440" tIns="45720" rIns="91440" bIns="45720" rtlCol="0" anchor="t">
            <a:normAutofit fontScale="92500" lnSpcReduction="2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Live weather</a:t>
            </a:r>
          </a:p>
        </p:txBody>
      </p:sp>
      <p:pic>
        <p:nvPicPr>
          <p:cNvPr id="33" name="Picture 32">
            <a:extLst>
              <a:ext uri="{FF2B5EF4-FFF2-40B4-BE49-F238E27FC236}">
                <a16:creationId xmlns:a16="http://schemas.microsoft.com/office/drawing/2014/main" id="{28699916-BDA6-FF92-CEF5-ECBCAAE3E137}"/>
              </a:ext>
            </a:extLst>
          </p:cNvPr>
          <p:cNvPicPr>
            <a:picLocks noChangeAspect="1"/>
          </p:cNvPicPr>
          <p:nvPr/>
        </p:nvPicPr>
        <p:blipFill>
          <a:blip r:embed="rId3"/>
          <a:stretch>
            <a:fillRect/>
          </a:stretch>
        </p:blipFill>
        <p:spPr>
          <a:xfrm>
            <a:off x="190123" y="2274817"/>
            <a:ext cx="2871537" cy="2435832"/>
          </a:xfrm>
          <a:prstGeom prst="rect">
            <a:avLst/>
          </a:prstGeom>
        </p:spPr>
      </p:pic>
      <p:pic>
        <p:nvPicPr>
          <p:cNvPr id="34" name="Picture 33">
            <a:extLst>
              <a:ext uri="{FF2B5EF4-FFF2-40B4-BE49-F238E27FC236}">
                <a16:creationId xmlns:a16="http://schemas.microsoft.com/office/drawing/2014/main" id="{CE65FCA9-49EE-1340-8D69-84AFD241BAF8}"/>
              </a:ext>
            </a:extLst>
          </p:cNvPr>
          <p:cNvPicPr>
            <a:picLocks noChangeAspect="1"/>
          </p:cNvPicPr>
          <p:nvPr/>
        </p:nvPicPr>
        <p:blipFill>
          <a:blip r:embed="rId4"/>
          <a:stretch>
            <a:fillRect/>
          </a:stretch>
        </p:blipFill>
        <p:spPr>
          <a:xfrm>
            <a:off x="467595" y="5298052"/>
            <a:ext cx="1578489" cy="1423423"/>
          </a:xfrm>
          <a:prstGeom prst="rect">
            <a:avLst/>
          </a:prstGeom>
        </p:spPr>
      </p:pic>
      <p:pic>
        <p:nvPicPr>
          <p:cNvPr id="36" name="Picture 35">
            <a:extLst>
              <a:ext uri="{FF2B5EF4-FFF2-40B4-BE49-F238E27FC236}">
                <a16:creationId xmlns:a16="http://schemas.microsoft.com/office/drawing/2014/main" id="{01D90AEB-B182-C94C-449A-55024D0B2E99}"/>
              </a:ext>
            </a:extLst>
          </p:cNvPr>
          <p:cNvPicPr>
            <a:picLocks noChangeAspect="1"/>
          </p:cNvPicPr>
          <p:nvPr/>
        </p:nvPicPr>
        <p:blipFill>
          <a:blip r:embed="rId5"/>
          <a:stretch>
            <a:fillRect/>
          </a:stretch>
        </p:blipFill>
        <p:spPr>
          <a:xfrm>
            <a:off x="3508940" y="2252617"/>
            <a:ext cx="4019088" cy="2446841"/>
          </a:xfrm>
          <a:prstGeom prst="rect">
            <a:avLst/>
          </a:prstGeom>
        </p:spPr>
      </p:pic>
      <p:pic>
        <p:nvPicPr>
          <p:cNvPr id="38" name="Picture 37">
            <a:extLst>
              <a:ext uri="{FF2B5EF4-FFF2-40B4-BE49-F238E27FC236}">
                <a16:creationId xmlns:a16="http://schemas.microsoft.com/office/drawing/2014/main" id="{4AF7EF1B-839D-F3E5-1040-E0B75226145A}"/>
              </a:ext>
            </a:extLst>
          </p:cNvPr>
          <p:cNvPicPr>
            <a:picLocks noChangeAspect="1"/>
          </p:cNvPicPr>
          <p:nvPr/>
        </p:nvPicPr>
        <p:blipFill>
          <a:blip r:embed="rId6"/>
          <a:stretch>
            <a:fillRect/>
          </a:stretch>
        </p:blipFill>
        <p:spPr>
          <a:xfrm>
            <a:off x="8447845" y="2148942"/>
            <a:ext cx="2595467" cy="2628321"/>
          </a:xfrm>
          <a:prstGeom prst="rect">
            <a:avLst/>
          </a:prstGeom>
        </p:spPr>
      </p:pic>
      <p:pic>
        <p:nvPicPr>
          <p:cNvPr id="40" name="Picture 39">
            <a:extLst>
              <a:ext uri="{FF2B5EF4-FFF2-40B4-BE49-F238E27FC236}">
                <a16:creationId xmlns:a16="http://schemas.microsoft.com/office/drawing/2014/main" id="{30A6CD1C-0B68-884C-71A9-1123B9936188}"/>
              </a:ext>
            </a:extLst>
          </p:cNvPr>
          <p:cNvPicPr>
            <a:picLocks noChangeAspect="1"/>
          </p:cNvPicPr>
          <p:nvPr/>
        </p:nvPicPr>
        <p:blipFill>
          <a:blip r:embed="rId7"/>
          <a:stretch>
            <a:fillRect/>
          </a:stretch>
        </p:blipFill>
        <p:spPr>
          <a:xfrm>
            <a:off x="3745346" y="5125407"/>
            <a:ext cx="4701306" cy="1699473"/>
          </a:xfrm>
          <a:prstGeom prst="rect">
            <a:avLst/>
          </a:prstGeom>
        </p:spPr>
      </p:pic>
    </p:spTree>
    <p:extLst>
      <p:ext uri="{BB962C8B-B14F-4D97-AF65-F5344CB8AC3E}">
        <p14:creationId xmlns:p14="http://schemas.microsoft.com/office/powerpoint/2010/main" val="1883894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838200" y="5509419"/>
            <a:ext cx="4082142" cy="585788"/>
          </a:xfrm>
        </p:spPr>
        <p:txBody>
          <a:bodyPr rtlCol="0"/>
          <a:lstStyle/>
          <a:p>
            <a:pPr rtl="0"/>
            <a:r>
              <a:rPr lang="en-GB" dirty="0"/>
              <a:t>Market research</a:t>
            </a:r>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sz="quarter" idx="13"/>
          </p:nvPr>
        </p:nvSpPr>
        <p:spPr>
          <a:xfrm>
            <a:off x="148318" y="1481138"/>
            <a:ext cx="2141764" cy="514350"/>
          </a:xfrm>
        </p:spPr>
        <p:txBody>
          <a:bodyPr vert="horz" lIns="91440" tIns="45720" rIns="91440" bIns="45720" rtlCol="0" anchor="ctr">
            <a:normAutofit lnSpcReduction="10000"/>
          </a:bodyPr>
          <a:lstStyle/>
          <a:p>
            <a:pPr rtl="0"/>
            <a:r>
              <a:rPr lang="en-GB" dirty="0"/>
              <a:t>Android platform</a:t>
            </a:r>
          </a:p>
        </p:txBody>
      </p:sp>
      <p:sp>
        <p:nvSpPr>
          <p:cNvPr id="4" name="Text Placeholder 3">
            <a:extLst>
              <a:ext uri="{FF2B5EF4-FFF2-40B4-BE49-F238E27FC236}">
                <a16:creationId xmlns:a16="http://schemas.microsoft.com/office/drawing/2014/main" id="{F5FF1291-56EB-4A7B-A198-1D91F9ECC5D3}"/>
              </a:ext>
            </a:extLst>
          </p:cNvPr>
          <p:cNvSpPr>
            <a:spLocks noGrp="1"/>
          </p:cNvSpPr>
          <p:nvPr>
            <p:ph type="body" sz="quarter" idx="14"/>
          </p:nvPr>
        </p:nvSpPr>
        <p:spPr>
          <a:xfrm>
            <a:off x="714375" y="2557463"/>
            <a:ext cx="2141764" cy="514350"/>
          </a:xfrm>
        </p:spPr>
        <p:txBody>
          <a:bodyPr rtlCol="0"/>
          <a:lstStyle/>
          <a:p>
            <a:pPr rtl="0"/>
            <a:r>
              <a:rPr lang="en-GB" dirty="0"/>
              <a:t>Genres</a:t>
            </a:r>
          </a:p>
        </p:txBody>
      </p:sp>
      <p:sp>
        <p:nvSpPr>
          <p:cNvPr id="5" name="Text Placeholder 4">
            <a:extLst>
              <a:ext uri="{FF2B5EF4-FFF2-40B4-BE49-F238E27FC236}">
                <a16:creationId xmlns:a16="http://schemas.microsoft.com/office/drawing/2014/main" id="{6184E21C-7534-4FB5-9709-F7D1A11034F3}"/>
              </a:ext>
            </a:extLst>
          </p:cNvPr>
          <p:cNvSpPr>
            <a:spLocks noGrp="1"/>
          </p:cNvSpPr>
          <p:nvPr>
            <p:ph type="body" sz="quarter" idx="15"/>
          </p:nvPr>
        </p:nvSpPr>
        <p:spPr>
          <a:xfrm>
            <a:off x="714375" y="3633788"/>
            <a:ext cx="2748189" cy="514350"/>
          </a:xfrm>
        </p:spPr>
        <p:txBody>
          <a:bodyPr rtlCol="0"/>
          <a:lstStyle/>
          <a:p>
            <a:pPr rtl="0"/>
            <a:r>
              <a:rPr lang="en-GB" dirty="0"/>
              <a:t>Age demographic</a:t>
            </a:r>
          </a:p>
        </p:txBody>
      </p:sp>
      <p:sp>
        <p:nvSpPr>
          <p:cNvPr id="6" name="Text Placeholder 5">
            <a:extLst>
              <a:ext uri="{FF2B5EF4-FFF2-40B4-BE49-F238E27FC236}">
                <a16:creationId xmlns:a16="http://schemas.microsoft.com/office/drawing/2014/main" id="{5C594564-4FC6-401A-8586-44735EE819EC}"/>
              </a:ext>
            </a:extLst>
          </p:cNvPr>
          <p:cNvSpPr>
            <a:spLocks noGrp="1"/>
          </p:cNvSpPr>
          <p:nvPr>
            <p:ph type="body" sz="quarter" idx="16"/>
          </p:nvPr>
        </p:nvSpPr>
        <p:spPr>
          <a:xfrm>
            <a:off x="1905000" y="4710114"/>
            <a:ext cx="2141764" cy="514350"/>
          </a:xfrm>
        </p:spPr>
        <p:txBody>
          <a:bodyPr rtlCol="0"/>
          <a:lstStyle/>
          <a:p>
            <a:pPr rtl="0"/>
            <a:r>
              <a:rPr lang="en-GB" dirty="0"/>
              <a:t>Monetisation</a:t>
            </a:r>
          </a:p>
        </p:txBody>
      </p:sp>
      <p:sp>
        <p:nvSpPr>
          <p:cNvPr id="7" name="Text Placehold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rtlCol="0">
            <a:normAutofit fontScale="92500" lnSpcReduction="10000"/>
          </a:bodyPr>
          <a:lstStyle/>
          <a:p>
            <a:pPr rtl="0"/>
            <a:r>
              <a:rPr lang="en-GB" dirty="0"/>
              <a:t>According to statscounter.com, Android holds a market share of 75.18% globally compared to iOS of 24.44%. According to worldpopulationreview.com, lower income countries hold the highest split between Android and iOS meaning that android is more accessible than iOS.</a:t>
            </a:r>
          </a:p>
        </p:txBody>
      </p:sp>
      <p:sp>
        <p:nvSpPr>
          <p:cNvPr id="8" name="Text Placehold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73328"/>
            <a:ext cx="5539095" cy="1010842"/>
          </a:xfrm>
        </p:spPr>
        <p:txBody>
          <a:bodyPr rtlCol="0"/>
          <a:lstStyle/>
          <a:p>
            <a:r>
              <a:rPr lang="en-GB" dirty="0">
                <a:hlinkClick r:id="rId3"/>
              </a:rPr>
              <a:t>The most popular genres by revenue in the mobile games market are Strategy, RPG, Puzzle, Casino and Simulation</a:t>
            </a:r>
            <a:r>
              <a:rPr lang="en-GB" dirty="0"/>
              <a:t>. This means that by making a simulation game that is successful, the revenue generated can be as high as </a:t>
            </a:r>
            <a:r>
              <a:rPr lang="en-GB" dirty="0">
                <a:hlinkClick r:id="rId4"/>
              </a:rPr>
              <a:t>$1.2 billion</a:t>
            </a:r>
            <a:r>
              <a:rPr lang="en-GB" dirty="0"/>
              <a:t>.</a:t>
            </a:r>
          </a:p>
        </p:txBody>
      </p:sp>
      <p:sp>
        <p:nvSpPr>
          <p:cNvPr id="9" name="Text Placehold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rtlCol="0">
            <a:normAutofit fontScale="92500" lnSpcReduction="10000"/>
          </a:bodyPr>
          <a:lstStyle/>
          <a:p>
            <a:pPr rtl="0"/>
            <a:r>
              <a:rPr lang="en-GB" dirty="0"/>
              <a:t>Ages 16-24 have around 52% of them playing mobile games which is quite normal however the percentage of people playing mobile games only starts to taper off towards 65+ meaning that the age range of which people play games is large so art style must comply to all ranges. </a:t>
            </a:r>
            <a:r>
              <a:rPr lang="en-GB" dirty="0">
                <a:hlinkClick r:id="rId5"/>
              </a:rPr>
              <a:t>source</a:t>
            </a:r>
            <a:endParaRPr lang="en-GB" dirty="0"/>
          </a:p>
        </p:txBody>
      </p:sp>
      <p:sp>
        <p:nvSpPr>
          <p:cNvPr id="10" name="Text Placehold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539095" cy="1010842"/>
          </a:xfrm>
        </p:spPr>
        <p:txBody>
          <a:bodyPr rtlCol="0"/>
          <a:lstStyle/>
          <a:p>
            <a:pPr rtl="0"/>
            <a:r>
              <a:rPr lang="en-GB" dirty="0"/>
              <a:t>Mobile games have the highest market share out of all the game industry (</a:t>
            </a:r>
            <a:r>
              <a:rPr lang="en-GB" dirty="0">
                <a:hlinkClick r:id="rId3"/>
              </a:rPr>
              <a:t>~$100 billion</a:t>
            </a:r>
            <a:r>
              <a:rPr lang="en-GB" dirty="0"/>
              <a:t>). Popular forms of monetisation strategies are in-app purchases, in-app ads and subscriptions.</a:t>
            </a:r>
          </a:p>
          <a:p>
            <a:pPr rtl="0"/>
            <a:endParaRPr lang="en-GB" dirty="0"/>
          </a:p>
        </p:txBody>
      </p:sp>
      <p:sp>
        <p:nvSpPr>
          <p:cNvPr id="11" name="Date Placeholder 10">
            <a:extLst>
              <a:ext uri="{FF2B5EF4-FFF2-40B4-BE49-F238E27FC236}">
                <a16:creationId xmlns:a16="http://schemas.microsoft.com/office/drawing/2014/main" id="{40BF6865-7FAE-4B56-A995-ADF1582DCC64}"/>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80" name="Footer Placeholder 79">
            <a:extLst>
              <a:ext uri="{FF2B5EF4-FFF2-40B4-BE49-F238E27FC236}">
                <a16:creationId xmlns:a16="http://schemas.microsoft.com/office/drawing/2014/main" id="{81398ED2-66DB-46EA-8D89-B07A5C039997}"/>
              </a:ext>
            </a:extLst>
          </p:cNvPr>
          <p:cNvSpPr>
            <a:spLocks noGrp="1"/>
          </p:cNvSpPr>
          <p:nvPr>
            <p:ph type="ftr" sz="quarter" idx="11"/>
          </p:nvPr>
        </p:nvSpPr>
        <p:spPr>
          <a:xfrm>
            <a:off x="6175279" y="6356350"/>
            <a:ext cx="1808712" cy="365125"/>
          </a:xfrm>
        </p:spPr>
        <p:txBody>
          <a:bodyPr rtlCol="0"/>
          <a:lstStyle/>
          <a:p>
            <a:pPr rtl="0"/>
            <a:r>
              <a:rPr lang="en-GB"/>
              <a:t>Pitch Deck</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rtlCol="0"/>
          <a:lstStyle/>
          <a:p>
            <a:pPr rtl="0"/>
            <a:fld id="{B5CEABB6-07DC-46E8-9B57-56EC44A396E5}" type="slidenum">
              <a:rPr lang="en-GB" smtClean="0"/>
              <a:pPr rtl="0"/>
              <a:t>12</a:t>
            </a:fld>
            <a:endParaRPr lang="en-GB"/>
          </a:p>
        </p:txBody>
      </p:sp>
    </p:spTree>
    <p:extLst>
      <p:ext uri="{BB962C8B-B14F-4D97-AF65-F5344CB8AC3E}">
        <p14:creationId xmlns:p14="http://schemas.microsoft.com/office/powerpoint/2010/main" val="1738561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EF933-7725-F9D3-2A2A-DED8F415E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D919F-DB81-4BE1-26FA-80F0D1881A95}"/>
              </a:ext>
            </a:extLst>
          </p:cNvPr>
          <p:cNvSpPr>
            <a:spLocks noGrp="1"/>
          </p:cNvSpPr>
          <p:nvPr>
            <p:ph type="title"/>
          </p:nvPr>
        </p:nvSpPr>
        <p:spPr>
          <a:xfrm>
            <a:off x="1885156" y="892177"/>
            <a:ext cx="8421688" cy="1325563"/>
          </a:xfrm>
        </p:spPr>
        <p:txBody>
          <a:bodyPr rtlCol="0"/>
          <a:lstStyle/>
          <a:p>
            <a:pPr rtl="0"/>
            <a:r>
              <a:rPr lang="en-GB" dirty="0"/>
              <a:t>Market research (Cont.)</a:t>
            </a:r>
          </a:p>
        </p:txBody>
      </p:sp>
      <p:sp>
        <p:nvSpPr>
          <p:cNvPr id="4" name="Text Placeholder 3">
            <a:extLst>
              <a:ext uri="{FF2B5EF4-FFF2-40B4-BE49-F238E27FC236}">
                <a16:creationId xmlns:a16="http://schemas.microsoft.com/office/drawing/2014/main" id="{C5A1EB1B-4582-4092-295A-0B97BC9AF984}"/>
              </a:ext>
            </a:extLst>
          </p:cNvPr>
          <p:cNvSpPr>
            <a:spLocks noGrp="1"/>
          </p:cNvSpPr>
          <p:nvPr>
            <p:ph type="body" idx="1"/>
          </p:nvPr>
        </p:nvSpPr>
        <p:spPr>
          <a:xfrm>
            <a:off x="1243104" y="2217740"/>
            <a:ext cx="2882475" cy="823912"/>
          </a:xfrm>
        </p:spPr>
        <p:txBody>
          <a:bodyPr rtlCol="0"/>
          <a:lstStyle/>
          <a:p>
            <a:pPr rtl="0"/>
            <a:r>
              <a:rPr lang="en-GB" dirty="0"/>
              <a:t>Similar games</a:t>
            </a:r>
          </a:p>
        </p:txBody>
      </p:sp>
      <p:sp>
        <p:nvSpPr>
          <p:cNvPr id="7" name="Content Placeholder 6">
            <a:extLst>
              <a:ext uri="{FF2B5EF4-FFF2-40B4-BE49-F238E27FC236}">
                <a16:creationId xmlns:a16="http://schemas.microsoft.com/office/drawing/2014/main" id="{550D69B5-7B76-3AA7-B290-C9DF7D391DDE}"/>
              </a:ext>
            </a:extLst>
          </p:cNvPr>
          <p:cNvSpPr>
            <a:spLocks noGrp="1"/>
          </p:cNvSpPr>
          <p:nvPr>
            <p:ph sz="half" idx="2"/>
          </p:nvPr>
        </p:nvSpPr>
        <p:spPr>
          <a:xfrm>
            <a:off x="1243104" y="3176338"/>
            <a:ext cx="2882475" cy="2656136"/>
          </a:xfrm>
        </p:spPr>
        <p:txBody>
          <a:bodyPr vert="horz" lIns="91440" tIns="45720" rIns="91440" bIns="45720" rtlCol="0" anchor="t">
            <a:normAutofit/>
          </a:bodyPr>
          <a:lstStyle/>
          <a:p>
            <a:pPr rtl="0"/>
            <a:r>
              <a:rPr lang="en-GB" sz="1800" noProof="1"/>
              <a:t>I have looked at a bunch of games that are in-line to the game idea I have (</a:t>
            </a:r>
            <a:r>
              <a:rPr lang="en-GB" sz="1800" noProof="1">
                <a:hlinkClick r:id="rId3"/>
              </a:rPr>
              <a:t>Cookie clicker</a:t>
            </a:r>
            <a:r>
              <a:rPr lang="en-GB" sz="1800" noProof="1"/>
              <a:t>, </a:t>
            </a:r>
            <a:r>
              <a:rPr lang="en-GB" sz="1800" noProof="1">
                <a:hlinkClick r:id="rId4"/>
              </a:rPr>
              <a:t>Clicker Hero</a:t>
            </a:r>
            <a:r>
              <a:rPr lang="en-GB" sz="1800" noProof="1"/>
              <a:t>, </a:t>
            </a:r>
            <a:r>
              <a:rPr lang="en-GB" sz="1800" noProof="1">
                <a:hlinkClick r:id="rId5"/>
              </a:rPr>
              <a:t>Pou</a:t>
            </a:r>
            <a:r>
              <a:rPr lang="en-GB" sz="1800" noProof="1"/>
              <a:t>).</a:t>
            </a:r>
            <a:br>
              <a:rPr lang="en-GB" sz="1800" noProof="1"/>
            </a:br>
            <a:endParaRPr lang="en-GB" sz="1800" noProof="1"/>
          </a:p>
        </p:txBody>
      </p:sp>
      <p:sp>
        <p:nvSpPr>
          <p:cNvPr id="6" name="Text Placeholder 5">
            <a:extLst>
              <a:ext uri="{FF2B5EF4-FFF2-40B4-BE49-F238E27FC236}">
                <a16:creationId xmlns:a16="http://schemas.microsoft.com/office/drawing/2014/main" id="{4CCE1354-C6BE-2DEC-BAFC-0F2BDF940A8A}"/>
              </a:ext>
            </a:extLst>
          </p:cNvPr>
          <p:cNvSpPr>
            <a:spLocks noGrp="1"/>
          </p:cNvSpPr>
          <p:nvPr>
            <p:ph type="body" sz="quarter" idx="3"/>
          </p:nvPr>
        </p:nvSpPr>
        <p:spPr>
          <a:xfrm>
            <a:off x="4647665" y="2217740"/>
            <a:ext cx="2896671" cy="823912"/>
          </a:xfrm>
        </p:spPr>
        <p:txBody>
          <a:bodyPr rtlCol="0"/>
          <a:lstStyle/>
          <a:p>
            <a:pPr rtl="0"/>
            <a:r>
              <a:rPr lang="en-GB" dirty="0"/>
              <a:t>Non-similar games</a:t>
            </a:r>
          </a:p>
        </p:txBody>
      </p:sp>
      <p:sp>
        <p:nvSpPr>
          <p:cNvPr id="3" name="Text Placeholder 2">
            <a:extLst>
              <a:ext uri="{FF2B5EF4-FFF2-40B4-BE49-F238E27FC236}">
                <a16:creationId xmlns:a16="http://schemas.microsoft.com/office/drawing/2014/main" id="{1F8C7F8A-2F65-8054-E434-5243CD7DE68C}"/>
              </a:ext>
            </a:extLst>
          </p:cNvPr>
          <p:cNvSpPr>
            <a:spLocks noGrp="1"/>
          </p:cNvSpPr>
          <p:nvPr>
            <p:ph sz="quarter" idx="4"/>
          </p:nvPr>
        </p:nvSpPr>
        <p:spPr>
          <a:xfrm>
            <a:off x="4647665" y="3176338"/>
            <a:ext cx="2896671" cy="2656136"/>
          </a:xfrm>
        </p:spPr>
        <p:txBody>
          <a:bodyPr rtlCol="0">
            <a:normAutofit/>
          </a:bodyPr>
          <a:lstStyle/>
          <a:p>
            <a:r>
              <a:rPr lang="en-GB" noProof="1"/>
              <a:t>I have also looked at other games (</a:t>
            </a:r>
            <a:r>
              <a:rPr lang="en-GB" noProof="1">
                <a:hlinkClick r:id="rId6"/>
              </a:rPr>
              <a:t>Clash Royale</a:t>
            </a:r>
            <a:r>
              <a:rPr lang="en-GB" noProof="1"/>
              <a:t>, </a:t>
            </a:r>
            <a:r>
              <a:rPr lang="en-GB" noProof="1">
                <a:hlinkClick r:id="rId7"/>
              </a:rPr>
              <a:t>Mobile Legends: Bang Bang</a:t>
            </a:r>
            <a:r>
              <a:rPr lang="en-GB" noProof="1"/>
              <a:t>, </a:t>
            </a:r>
            <a:r>
              <a:rPr lang="en-GB" noProof="1">
                <a:hlinkClick r:id="rId8"/>
              </a:rPr>
              <a:t>Fate/Grand Order</a:t>
            </a:r>
            <a:r>
              <a:rPr lang="en-GB" noProof="1"/>
              <a:t>)</a:t>
            </a:r>
            <a:endParaRPr lang="en-GB" dirty="0"/>
          </a:p>
        </p:txBody>
      </p:sp>
      <p:sp>
        <p:nvSpPr>
          <p:cNvPr id="5" name="Content Placeholder 4">
            <a:extLst>
              <a:ext uri="{FF2B5EF4-FFF2-40B4-BE49-F238E27FC236}">
                <a16:creationId xmlns:a16="http://schemas.microsoft.com/office/drawing/2014/main" id="{EEFC6CC2-2793-5D2E-DEB0-88E082DE8704}"/>
              </a:ext>
            </a:extLst>
          </p:cNvPr>
          <p:cNvSpPr>
            <a:spLocks noGrp="1"/>
          </p:cNvSpPr>
          <p:nvPr>
            <p:ph type="body" idx="13"/>
          </p:nvPr>
        </p:nvSpPr>
        <p:spPr>
          <a:xfrm>
            <a:off x="8066421" y="2217740"/>
            <a:ext cx="2882475" cy="823912"/>
          </a:xfrm>
        </p:spPr>
        <p:txBody>
          <a:bodyPr vert="horz" lIns="91440" tIns="45720" rIns="91440" bIns="45720" rtlCol="0" anchor="b">
            <a:normAutofit/>
          </a:bodyPr>
          <a:lstStyle/>
          <a:p>
            <a:pPr rtl="0"/>
            <a:r>
              <a:rPr lang="en-GB" dirty="0"/>
              <a:t>Main take from this</a:t>
            </a:r>
          </a:p>
        </p:txBody>
      </p:sp>
      <p:sp>
        <p:nvSpPr>
          <p:cNvPr id="8" name="Text Placeholder 7">
            <a:extLst>
              <a:ext uri="{FF2B5EF4-FFF2-40B4-BE49-F238E27FC236}">
                <a16:creationId xmlns:a16="http://schemas.microsoft.com/office/drawing/2014/main" id="{B697C792-7D23-CF95-D47D-73A778EC14C5}"/>
              </a:ext>
            </a:extLst>
          </p:cNvPr>
          <p:cNvSpPr>
            <a:spLocks noGrp="1"/>
          </p:cNvSpPr>
          <p:nvPr>
            <p:ph sz="half" idx="14"/>
          </p:nvPr>
        </p:nvSpPr>
        <p:spPr>
          <a:xfrm>
            <a:off x="8066421" y="3176338"/>
            <a:ext cx="2882475" cy="3180012"/>
          </a:xfrm>
        </p:spPr>
        <p:txBody>
          <a:bodyPr rtlCol="0">
            <a:normAutofit lnSpcReduction="10000"/>
          </a:bodyPr>
          <a:lstStyle/>
          <a:p>
            <a:pPr rtl="0"/>
            <a:r>
              <a:rPr lang="en-GB" noProof="1"/>
              <a:t>Similar Games:</a:t>
            </a:r>
          </a:p>
          <a:p>
            <a:pPr marL="285750" indent="-285750" rtl="0">
              <a:buFont typeface="Arial" panose="020B0604020202020204" pitchFamily="34" charset="0"/>
              <a:buChar char="•"/>
            </a:pPr>
            <a:r>
              <a:rPr lang="en-GB" dirty="0"/>
              <a:t>Ui must be simple</a:t>
            </a:r>
          </a:p>
          <a:p>
            <a:pPr marL="285750" indent="-285750" rtl="0">
              <a:buFont typeface="Arial" panose="020B0604020202020204" pitchFamily="34" charset="0"/>
              <a:buChar char="•"/>
            </a:pPr>
            <a:r>
              <a:rPr lang="en-GB" dirty="0"/>
              <a:t>Basic mechanics but other mechanics build upon it</a:t>
            </a:r>
          </a:p>
          <a:p>
            <a:pPr marL="285750" indent="-285750" rtl="0">
              <a:buFont typeface="Arial" panose="020B0604020202020204" pitchFamily="34" charset="0"/>
              <a:buChar char="•"/>
            </a:pPr>
            <a:r>
              <a:rPr lang="en-GB" dirty="0"/>
              <a:t>Some form of progression</a:t>
            </a:r>
          </a:p>
          <a:p>
            <a:pPr rtl="0"/>
            <a:r>
              <a:rPr lang="en-GB" dirty="0"/>
              <a:t>Non-similar Games:</a:t>
            </a:r>
          </a:p>
          <a:p>
            <a:pPr marL="285750" indent="-285750" rtl="0">
              <a:buFont typeface="Arial" panose="020B0604020202020204" pitchFamily="34" charset="0"/>
              <a:buChar char="•"/>
            </a:pPr>
            <a:r>
              <a:rPr lang="en-GB" dirty="0"/>
              <a:t>FOMO is very prevalent</a:t>
            </a:r>
          </a:p>
          <a:p>
            <a:pPr marL="285750" indent="-285750" rtl="0">
              <a:buFont typeface="Arial" panose="020B0604020202020204" pitchFamily="34" charset="0"/>
              <a:buChar char="•"/>
            </a:pPr>
            <a:r>
              <a:rPr lang="en-GB" dirty="0"/>
              <a:t>Ui must be smooth, clear and easily traversable</a:t>
            </a:r>
          </a:p>
          <a:p>
            <a:pPr marL="285750" indent="-285750" rtl="0">
              <a:buFont typeface="Arial" panose="020B0604020202020204" pitchFamily="34" charset="0"/>
              <a:buChar char="•"/>
            </a:pPr>
            <a:r>
              <a:rPr lang="en-GB" dirty="0"/>
              <a:t>Monetisation is very much in your face</a:t>
            </a:r>
          </a:p>
        </p:txBody>
      </p:sp>
      <p:sp>
        <p:nvSpPr>
          <p:cNvPr id="9" name="Date Placeholder 8">
            <a:extLst>
              <a:ext uri="{FF2B5EF4-FFF2-40B4-BE49-F238E27FC236}">
                <a16:creationId xmlns:a16="http://schemas.microsoft.com/office/drawing/2014/main" id="{A56A8F2D-7A35-61D1-1A13-32A4AC8412FE}"/>
              </a:ext>
            </a:extLst>
          </p:cNvPr>
          <p:cNvSpPr>
            <a:spLocks noGrp="1"/>
          </p:cNvSpPr>
          <p:nvPr>
            <p:ph type="dt" sz="half" idx="10"/>
          </p:nvPr>
        </p:nvSpPr>
        <p:spPr>
          <a:xfrm>
            <a:off x="838200" y="6356350"/>
            <a:ext cx="2743200" cy="365125"/>
          </a:xfrm>
        </p:spPr>
        <p:txBody>
          <a:bodyPr rtlCol="0"/>
          <a:lstStyle/>
          <a:p>
            <a:pPr rtl="0"/>
            <a:r>
              <a:rPr lang="en-GB"/>
              <a:t>20XX</a:t>
            </a:r>
            <a:endParaRPr lang="en-GB" dirty="0"/>
          </a:p>
        </p:txBody>
      </p:sp>
      <p:sp>
        <p:nvSpPr>
          <p:cNvPr id="10" name="Footer Placeholder 9">
            <a:extLst>
              <a:ext uri="{FF2B5EF4-FFF2-40B4-BE49-F238E27FC236}">
                <a16:creationId xmlns:a16="http://schemas.microsoft.com/office/drawing/2014/main" id="{A88CB90A-3946-301F-3617-F4D5B3862E8D}"/>
              </a:ext>
            </a:extLst>
          </p:cNvPr>
          <p:cNvSpPr>
            <a:spLocks noGrp="1"/>
          </p:cNvSpPr>
          <p:nvPr>
            <p:ph type="ftr" sz="quarter" idx="11"/>
          </p:nvPr>
        </p:nvSpPr>
        <p:spPr>
          <a:xfrm>
            <a:off x="4038600" y="6356350"/>
            <a:ext cx="4114800" cy="365125"/>
          </a:xfrm>
        </p:spPr>
        <p:txBody>
          <a:bodyPr rtlCol="0"/>
          <a:lstStyle/>
          <a:p>
            <a:pPr rtl="0"/>
            <a:r>
              <a:rPr lang="en-GB"/>
              <a:t>Pitch Deck</a:t>
            </a:r>
            <a:endParaRPr lang="en-GB" dirty="0"/>
          </a:p>
        </p:txBody>
      </p:sp>
      <p:sp>
        <p:nvSpPr>
          <p:cNvPr id="11" name="Slide Number Placeholder 10">
            <a:extLst>
              <a:ext uri="{FF2B5EF4-FFF2-40B4-BE49-F238E27FC236}">
                <a16:creationId xmlns:a16="http://schemas.microsoft.com/office/drawing/2014/main" id="{2DAD7183-D4D4-4D57-E362-C7FBD4B148FB}"/>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n-GB" smtClean="0"/>
              <a:pPr rtl="0"/>
              <a:t>13</a:t>
            </a:fld>
            <a:endParaRPr lang="en-GB" dirty="0"/>
          </a:p>
        </p:txBody>
      </p:sp>
    </p:spTree>
    <p:extLst>
      <p:ext uri="{BB962C8B-B14F-4D97-AF65-F5344CB8AC3E}">
        <p14:creationId xmlns:p14="http://schemas.microsoft.com/office/powerpoint/2010/main" val="3644886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43073"/>
            <a:ext cx="8421688" cy="1325563"/>
          </a:xfrm>
        </p:spPr>
        <p:txBody>
          <a:bodyPr rtlCol="0"/>
          <a:lstStyle/>
          <a:p>
            <a:pPr rtl="0"/>
            <a:r>
              <a:rPr lang="en-GB" dirty="0"/>
              <a:t>Comparison of the Ui from the games</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41427" y="1048161"/>
            <a:ext cx="4031945" cy="365125"/>
          </a:xfrm>
        </p:spPr>
        <p:txBody>
          <a:bodyPr vert="horz" lIns="91440" tIns="45720" rIns="91440" bIns="45720" rtlCol="0" anchor="t">
            <a:normAutofit lnSpcReduction="10000"/>
          </a:bodyPr>
          <a:lstStyle/>
          <a:p>
            <a:pPr rtl="0"/>
            <a:r>
              <a:rPr lang="en-GB" dirty="0"/>
              <a:t>Cookie Clicker</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1781175" y="1464242"/>
            <a:ext cx="4031030" cy="1620838"/>
          </a:xfrm>
        </p:spPr>
        <p:txBody>
          <a:bodyPr rtlCol="0">
            <a:normAutofit/>
          </a:bodyPr>
          <a:lstStyle/>
          <a:p>
            <a:pPr marL="285750" indent="-285750" algn="l" rtl="0">
              <a:buFont typeface="Arial" panose="020B0604020202020204" pitchFamily="34" charset="0"/>
              <a:buChar char="•"/>
            </a:pPr>
            <a:r>
              <a:rPr lang="en-GB" dirty="0"/>
              <a:t>Ui is very simple, small amount of text labels</a:t>
            </a:r>
          </a:p>
          <a:p>
            <a:pPr marL="285750" indent="-285750" algn="l" rtl="0">
              <a:buFont typeface="Arial" panose="020B0604020202020204" pitchFamily="34" charset="0"/>
              <a:buChar char="•"/>
            </a:pPr>
            <a:r>
              <a:rPr lang="en-GB" dirty="0"/>
              <a:t>Shop button is in a very UX-friendly position</a:t>
            </a:r>
          </a:p>
          <a:p>
            <a:pPr marL="285750" indent="-285750" algn="l" rtl="0">
              <a:buFont typeface="Arial" panose="020B0604020202020204" pitchFamily="34" charset="0"/>
              <a:buChar char="•"/>
            </a:pPr>
            <a:r>
              <a:rPr lang="en-GB" dirty="0"/>
              <a:t>Clear goal without needing to know how to play</a:t>
            </a:r>
          </a:p>
          <a:p>
            <a:pPr marL="285750" indent="-285750" algn="l" rtl="0">
              <a:buFont typeface="Arial" panose="020B0604020202020204" pitchFamily="34" charset="0"/>
              <a:buChar char="•"/>
            </a:pPr>
            <a:r>
              <a:rPr lang="en-GB" dirty="0"/>
              <a:t>Big numbers so dopamine spikes</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6"/>
          </p:nvPr>
        </p:nvSpPr>
        <p:spPr>
          <a:xfrm>
            <a:off x="7840265" y="1099117"/>
            <a:ext cx="4031945" cy="365125"/>
          </a:xfrm>
        </p:spPr>
        <p:txBody>
          <a:bodyPr rtlCol="0">
            <a:normAutofit lnSpcReduction="10000"/>
          </a:bodyPr>
          <a:lstStyle/>
          <a:p>
            <a:pPr rtl="0"/>
            <a:r>
              <a:rPr lang="en-GB" dirty="0"/>
              <a:t>Pou</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17"/>
          </p:nvPr>
        </p:nvSpPr>
        <p:spPr>
          <a:xfrm>
            <a:off x="7966685" y="1606341"/>
            <a:ext cx="4031030" cy="1969777"/>
          </a:xfrm>
        </p:spPr>
        <p:txBody>
          <a:bodyPr rtlCol="0"/>
          <a:lstStyle/>
          <a:p>
            <a:pPr marL="285750" indent="-285750" algn="l" rtl="0">
              <a:buFont typeface="Arial" panose="020B0604020202020204" pitchFamily="34" charset="0"/>
              <a:buChar char="•"/>
            </a:pPr>
            <a:r>
              <a:rPr lang="en-GB" dirty="0"/>
              <a:t>Very clear graphic on Ui</a:t>
            </a:r>
          </a:p>
          <a:p>
            <a:pPr marL="285750" indent="-285750" algn="l" rtl="0">
              <a:buFont typeface="Arial" panose="020B0604020202020204" pitchFamily="34" charset="0"/>
              <a:buChar char="•"/>
            </a:pPr>
            <a:r>
              <a:rPr lang="en-GB" dirty="0"/>
              <a:t>Graphic for Ui elements are clear so text isn’t fully reliant</a:t>
            </a:r>
          </a:p>
          <a:p>
            <a:pPr marL="285750" indent="-285750" algn="l" rtl="0">
              <a:buFont typeface="Arial" panose="020B0604020202020204" pitchFamily="34" charset="0"/>
              <a:buChar char="•"/>
            </a:pPr>
            <a:r>
              <a:rPr lang="en-GB" dirty="0"/>
              <a:t>Most important Ui elements are in areas which are most accessible for </a:t>
            </a:r>
            <a:r>
              <a:rPr lang="en-GB" dirty="0" err="1"/>
              <a:t>Ux</a:t>
            </a:r>
            <a:endParaRPr lang="en-GB" dirty="0"/>
          </a:p>
          <a:p>
            <a:pPr marL="285750" indent="-285750" algn="l" rtl="0">
              <a:buFont typeface="Arial" panose="020B0604020202020204" pitchFamily="34" charset="0"/>
              <a:buChar char="•"/>
            </a:pPr>
            <a:r>
              <a:rPr lang="en-GB" dirty="0"/>
              <a:t>Clear gradient and colour palette used</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18"/>
          </p:nvPr>
        </p:nvSpPr>
        <p:spPr>
          <a:xfrm>
            <a:off x="1484984" y="4148868"/>
            <a:ext cx="4031945" cy="365125"/>
          </a:xfrm>
        </p:spPr>
        <p:txBody>
          <a:bodyPr rtlCol="0">
            <a:normAutofit lnSpcReduction="10000"/>
          </a:bodyPr>
          <a:lstStyle/>
          <a:p>
            <a:pPr rtl="0"/>
            <a:r>
              <a:rPr lang="en-GB" dirty="0"/>
              <a:t>Clash Royale</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19"/>
          </p:nvPr>
        </p:nvSpPr>
        <p:spPr>
          <a:xfrm>
            <a:off x="1608791" y="4825199"/>
            <a:ext cx="4031030" cy="1057308"/>
          </a:xfrm>
        </p:spPr>
        <p:txBody>
          <a:bodyPr rtlCol="0">
            <a:normAutofit fontScale="92500" lnSpcReduction="20000"/>
          </a:bodyPr>
          <a:lstStyle/>
          <a:p>
            <a:pPr marL="285750" indent="-285750" algn="l" rtl="0">
              <a:buFont typeface="Arial" panose="020B0604020202020204" pitchFamily="34" charset="0"/>
              <a:buChar char="•"/>
            </a:pPr>
            <a:r>
              <a:rPr lang="en-GB" dirty="0"/>
              <a:t>Only interactable Ui is at the bottom</a:t>
            </a:r>
          </a:p>
          <a:p>
            <a:pPr marL="285750" indent="-285750" algn="l" rtl="0">
              <a:buFont typeface="Arial" panose="020B0604020202020204" pitchFamily="34" charset="0"/>
              <a:buChar char="•"/>
            </a:pPr>
            <a:r>
              <a:rPr lang="en-GB" dirty="0"/>
              <a:t>Clear visuals on resources</a:t>
            </a:r>
          </a:p>
          <a:p>
            <a:pPr marL="285750" indent="-285750" algn="l" rtl="0">
              <a:buFont typeface="Arial" panose="020B0604020202020204" pitchFamily="34" charset="0"/>
              <a:buChar char="•"/>
            </a:pPr>
            <a:r>
              <a:rPr lang="en-GB" dirty="0"/>
              <a:t>Very </a:t>
            </a:r>
            <a:r>
              <a:rPr lang="en-GB" dirty="0" err="1"/>
              <a:t>Ux</a:t>
            </a:r>
            <a:r>
              <a:rPr lang="en-GB" dirty="0"/>
              <a:t> friendly since most of game can be played with bottom half of screen</a:t>
            </a:r>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rtlCol="0"/>
          <a:lstStyle/>
          <a:p>
            <a:pPr rtl="0"/>
            <a:r>
              <a:rPr lang="en-GB"/>
              <a:t>20XX</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rtlCol="0"/>
          <a:lstStyle/>
          <a:p>
            <a:pPr rtl="0"/>
            <a:r>
              <a:rPr lang="en-GB"/>
              <a:t>Pitch Deck</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14</a:t>
            </a:fld>
            <a:endParaRPr lang="en-GB"/>
          </a:p>
        </p:txBody>
      </p:sp>
      <p:pic>
        <p:nvPicPr>
          <p:cNvPr id="2050" name="Picture 2" descr="Cookie Clickers™ - App on the Amazon Appstore">
            <a:extLst>
              <a:ext uri="{FF2B5EF4-FFF2-40B4-BE49-F238E27FC236}">
                <a16:creationId xmlns:a16="http://schemas.microsoft.com/office/drawing/2014/main" id="{670E8380-E1B1-7E5A-F4C3-3D8004088C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615" r="-3334" b="11345"/>
          <a:stretch>
            <a:fillRect/>
          </a:stretch>
        </p:blipFill>
        <p:spPr bwMode="auto">
          <a:xfrm>
            <a:off x="42649" y="1445073"/>
            <a:ext cx="1591101" cy="227314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ou for Android - Download the APK from Uptodown">
            <a:extLst>
              <a:ext uri="{FF2B5EF4-FFF2-40B4-BE49-F238E27FC236}">
                <a16:creationId xmlns:a16="http://schemas.microsoft.com/office/drawing/2014/main" id="{0DD42029-24E2-2544-E01B-C0E6C250562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7044"/>
          <a:stretch>
            <a:fillRect/>
          </a:stretch>
        </p:blipFill>
        <p:spPr bwMode="auto">
          <a:xfrm>
            <a:off x="6154716" y="1198400"/>
            <a:ext cx="1620178" cy="251010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Clash Royale' 2V2 Team Battles: New Game Mode Allows Clans To Battle Each  Other | IBTimes">
            <a:extLst>
              <a:ext uri="{FF2B5EF4-FFF2-40B4-BE49-F238E27FC236}">
                <a16:creationId xmlns:a16="http://schemas.microsoft.com/office/drawing/2014/main" id="{96D8FAA8-EFE5-69EB-5C40-D570161F4E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10" y="4002926"/>
            <a:ext cx="1606640" cy="2855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920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2A72D-AB9F-C653-4040-42828ACCE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5A14A-0234-AFFB-8DD7-6C970E3970EA}"/>
              </a:ext>
            </a:extLst>
          </p:cNvPr>
          <p:cNvSpPr>
            <a:spLocks noGrp="1"/>
          </p:cNvSpPr>
          <p:nvPr>
            <p:ph type="title"/>
          </p:nvPr>
        </p:nvSpPr>
        <p:spPr>
          <a:xfrm>
            <a:off x="1885156" y="43073"/>
            <a:ext cx="8421688" cy="1325563"/>
          </a:xfrm>
        </p:spPr>
        <p:txBody>
          <a:bodyPr rtlCol="0"/>
          <a:lstStyle/>
          <a:p>
            <a:pPr rtl="0"/>
            <a:r>
              <a:rPr lang="en-GB" dirty="0"/>
              <a:t>Drafts of </a:t>
            </a:r>
            <a:r>
              <a:rPr lang="en-GB" dirty="0" err="1"/>
              <a:t>ui</a:t>
            </a:r>
            <a:endParaRPr lang="en-GB" dirty="0"/>
          </a:p>
        </p:txBody>
      </p:sp>
      <p:sp>
        <p:nvSpPr>
          <p:cNvPr id="3" name="Content Placeholder 2">
            <a:extLst>
              <a:ext uri="{FF2B5EF4-FFF2-40B4-BE49-F238E27FC236}">
                <a16:creationId xmlns:a16="http://schemas.microsoft.com/office/drawing/2014/main" id="{F7F9F91D-04BE-FD24-E7CE-15F522FA1F5A}"/>
              </a:ext>
            </a:extLst>
          </p:cNvPr>
          <p:cNvSpPr>
            <a:spLocks noGrp="1"/>
          </p:cNvSpPr>
          <p:nvPr>
            <p:ph type="body" sz="quarter" idx="13"/>
          </p:nvPr>
        </p:nvSpPr>
        <p:spPr>
          <a:xfrm>
            <a:off x="41427" y="1048161"/>
            <a:ext cx="4031945" cy="365125"/>
          </a:xfrm>
        </p:spPr>
        <p:txBody>
          <a:bodyPr vert="horz" lIns="91440" tIns="45720" rIns="91440" bIns="45720" rtlCol="0" anchor="t">
            <a:normAutofit lnSpcReduction="10000"/>
          </a:bodyPr>
          <a:lstStyle/>
          <a:p>
            <a:pPr rtl="0"/>
            <a:r>
              <a:rPr lang="en-GB" dirty="0"/>
              <a:t>Main Menu</a:t>
            </a:r>
          </a:p>
        </p:txBody>
      </p:sp>
      <p:sp>
        <p:nvSpPr>
          <p:cNvPr id="4" name="Text Placeholder 3">
            <a:extLst>
              <a:ext uri="{FF2B5EF4-FFF2-40B4-BE49-F238E27FC236}">
                <a16:creationId xmlns:a16="http://schemas.microsoft.com/office/drawing/2014/main" id="{739E8D2B-51FD-CAC7-EE7B-C818011C82D0}"/>
              </a:ext>
            </a:extLst>
          </p:cNvPr>
          <p:cNvSpPr>
            <a:spLocks noGrp="1"/>
          </p:cNvSpPr>
          <p:nvPr>
            <p:ph type="body" sz="quarter" idx="15"/>
          </p:nvPr>
        </p:nvSpPr>
        <p:spPr>
          <a:xfrm>
            <a:off x="1781175" y="1464242"/>
            <a:ext cx="4031030" cy="1620838"/>
          </a:xfrm>
        </p:spPr>
        <p:txBody>
          <a:bodyPr rtlCol="0">
            <a:normAutofit/>
          </a:bodyPr>
          <a:lstStyle/>
          <a:p>
            <a:pPr marL="285750" indent="-285750" algn="l" rtl="0">
              <a:buFont typeface="Arial" panose="020B0604020202020204" pitchFamily="34" charset="0"/>
              <a:buChar char="•"/>
            </a:pPr>
            <a:r>
              <a:rPr lang="en-GB" dirty="0"/>
              <a:t>Simple buttons to move </a:t>
            </a:r>
            <a:r>
              <a:rPr lang="en-GB" dirty="0" err="1"/>
              <a:t>Uis</a:t>
            </a:r>
            <a:endParaRPr lang="en-GB" dirty="0"/>
          </a:p>
          <a:p>
            <a:pPr marL="285750" indent="-285750" algn="l" rtl="0">
              <a:buFont typeface="Arial" panose="020B0604020202020204" pitchFamily="34" charset="0"/>
              <a:buChar char="•"/>
            </a:pPr>
            <a:endParaRPr lang="en-GB" dirty="0"/>
          </a:p>
        </p:txBody>
      </p:sp>
      <p:sp>
        <p:nvSpPr>
          <p:cNvPr id="5" name="Text Placeholder 4">
            <a:extLst>
              <a:ext uri="{FF2B5EF4-FFF2-40B4-BE49-F238E27FC236}">
                <a16:creationId xmlns:a16="http://schemas.microsoft.com/office/drawing/2014/main" id="{FAE5B9A5-32EB-105D-AC89-1808404C4151}"/>
              </a:ext>
            </a:extLst>
          </p:cNvPr>
          <p:cNvSpPr>
            <a:spLocks noGrp="1"/>
          </p:cNvSpPr>
          <p:nvPr>
            <p:ph type="body" sz="quarter" idx="16"/>
          </p:nvPr>
        </p:nvSpPr>
        <p:spPr>
          <a:xfrm>
            <a:off x="7840265" y="1099117"/>
            <a:ext cx="4031945" cy="365125"/>
          </a:xfrm>
        </p:spPr>
        <p:txBody>
          <a:bodyPr rtlCol="0">
            <a:normAutofit lnSpcReduction="10000"/>
          </a:bodyPr>
          <a:lstStyle/>
          <a:p>
            <a:pPr rtl="0"/>
            <a:r>
              <a:rPr lang="en-GB" dirty="0"/>
              <a:t>Game Scene</a:t>
            </a:r>
          </a:p>
        </p:txBody>
      </p:sp>
      <p:sp>
        <p:nvSpPr>
          <p:cNvPr id="6" name="Text Placeholder 5">
            <a:extLst>
              <a:ext uri="{FF2B5EF4-FFF2-40B4-BE49-F238E27FC236}">
                <a16:creationId xmlns:a16="http://schemas.microsoft.com/office/drawing/2014/main" id="{546B3879-417A-AE10-3948-D4BD94FC8528}"/>
              </a:ext>
            </a:extLst>
          </p:cNvPr>
          <p:cNvSpPr>
            <a:spLocks noGrp="1"/>
          </p:cNvSpPr>
          <p:nvPr>
            <p:ph type="body" sz="quarter" idx="17"/>
          </p:nvPr>
        </p:nvSpPr>
        <p:spPr>
          <a:xfrm>
            <a:off x="7966685" y="1606341"/>
            <a:ext cx="4031030" cy="1969777"/>
          </a:xfrm>
        </p:spPr>
        <p:txBody>
          <a:bodyPr rtlCol="0"/>
          <a:lstStyle/>
          <a:p>
            <a:pPr marL="285750" indent="-285750" algn="l" rtl="0">
              <a:buFont typeface="Arial" panose="020B0604020202020204" pitchFamily="34" charset="0"/>
              <a:buChar char="•"/>
            </a:pPr>
            <a:r>
              <a:rPr lang="en-GB" dirty="0"/>
              <a:t>Went with simple </a:t>
            </a:r>
            <a:r>
              <a:rPr lang="en-GB" dirty="0" err="1"/>
              <a:t>ui</a:t>
            </a:r>
            <a:r>
              <a:rPr lang="en-GB" dirty="0"/>
              <a:t> for main game</a:t>
            </a:r>
          </a:p>
          <a:p>
            <a:pPr marL="285750" indent="-285750" algn="l" rtl="0">
              <a:buFont typeface="Arial" panose="020B0604020202020204" pitchFamily="34" charset="0"/>
              <a:buChar char="•"/>
            </a:pPr>
            <a:r>
              <a:rPr lang="en-GB" dirty="0"/>
              <a:t>Easy </a:t>
            </a:r>
            <a:r>
              <a:rPr lang="en-GB" dirty="0" err="1"/>
              <a:t>Ux</a:t>
            </a:r>
            <a:r>
              <a:rPr lang="en-GB" dirty="0"/>
              <a:t> since focus is on the bottom half of screen</a:t>
            </a:r>
          </a:p>
          <a:p>
            <a:pPr marL="285750" indent="-285750" algn="l" rtl="0">
              <a:buFont typeface="Arial" panose="020B0604020202020204" pitchFamily="34" charset="0"/>
              <a:buChar char="•"/>
            </a:pPr>
            <a:endParaRPr lang="en-GB" dirty="0"/>
          </a:p>
        </p:txBody>
      </p:sp>
      <p:sp>
        <p:nvSpPr>
          <p:cNvPr id="7" name="Text Placeholder 6">
            <a:extLst>
              <a:ext uri="{FF2B5EF4-FFF2-40B4-BE49-F238E27FC236}">
                <a16:creationId xmlns:a16="http://schemas.microsoft.com/office/drawing/2014/main" id="{3F5B4BE9-31B2-23A3-4439-762ECF46524F}"/>
              </a:ext>
            </a:extLst>
          </p:cNvPr>
          <p:cNvSpPr>
            <a:spLocks noGrp="1"/>
          </p:cNvSpPr>
          <p:nvPr>
            <p:ph type="body" sz="quarter" idx="18"/>
          </p:nvPr>
        </p:nvSpPr>
        <p:spPr>
          <a:xfrm>
            <a:off x="1534588" y="3966305"/>
            <a:ext cx="4031945" cy="365125"/>
          </a:xfrm>
        </p:spPr>
        <p:txBody>
          <a:bodyPr rtlCol="0">
            <a:normAutofit lnSpcReduction="10000"/>
          </a:bodyPr>
          <a:lstStyle/>
          <a:p>
            <a:pPr rtl="0"/>
            <a:r>
              <a:rPr lang="en-GB" dirty="0"/>
              <a:t>Settings</a:t>
            </a:r>
          </a:p>
        </p:txBody>
      </p:sp>
      <p:sp>
        <p:nvSpPr>
          <p:cNvPr id="8" name="Text Placeholder 7">
            <a:extLst>
              <a:ext uri="{FF2B5EF4-FFF2-40B4-BE49-F238E27FC236}">
                <a16:creationId xmlns:a16="http://schemas.microsoft.com/office/drawing/2014/main" id="{56929D76-5BD0-EB2D-6A98-9CE0B4688A1C}"/>
              </a:ext>
            </a:extLst>
          </p:cNvPr>
          <p:cNvSpPr>
            <a:spLocks noGrp="1"/>
          </p:cNvSpPr>
          <p:nvPr>
            <p:ph type="body" sz="quarter" idx="19"/>
          </p:nvPr>
        </p:nvSpPr>
        <p:spPr>
          <a:xfrm>
            <a:off x="1608791" y="4825199"/>
            <a:ext cx="4031030" cy="1057308"/>
          </a:xfrm>
        </p:spPr>
        <p:txBody>
          <a:bodyPr rtlCol="0">
            <a:normAutofit/>
          </a:bodyPr>
          <a:lstStyle/>
          <a:p>
            <a:pPr marL="285750" indent="-285750" algn="l" rtl="0">
              <a:buFont typeface="Arial" panose="020B0604020202020204" pitchFamily="34" charset="0"/>
              <a:buChar char="•"/>
            </a:pPr>
            <a:r>
              <a:rPr lang="en-GB" dirty="0"/>
              <a:t>Sliders for audio types</a:t>
            </a:r>
          </a:p>
          <a:p>
            <a:pPr marL="285750" indent="-285750" algn="l" rtl="0">
              <a:buFont typeface="Arial" panose="020B0604020202020204" pitchFamily="34" charset="0"/>
              <a:buChar char="•"/>
            </a:pPr>
            <a:r>
              <a:rPr lang="en-GB" dirty="0"/>
              <a:t>Toggles for audios or features</a:t>
            </a:r>
          </a:p>
        </p:txBody>
      </p:sp>
      <p:sp>
        <p:nvSpPr>
          <p:cNvPr id="80" name="Date Placeholder 79">
            <a:extLst>
              <a:ext uri="{FF2B5EF4-FFF2-40B4-BE49-F238E27FC236}">
                <a16:creationId xmlns:a16="http://schemas.microsoft.com/office/drawing/2014/main" id="{E22AB951-EE3E-FB33-FCA3-504431B476F5}"/>
              </a:ext>
            </a:extLst>
          </p:cNvPr>
          <p:cNvSpPr>
            <a:spLocks noGrp="1"/>
          </p:cNvSpPr>
          <p:nvPr>
            <p:ph type="dt" sz="half" idx="20"/>
          </p:nvPr>
        </p:nvSpPr>
        <p:spPr>
          <a:xfrm>
            <a:off x="838200" y="6356350"/>
            <a:ext cx="2743200" cy="365125"/>
          </a:xfrm>
        </p:spPr>
        <p:txBody>
          <a:bodyPr rtlCol="0"/>
          <a:lstStyle/>
          <a:p>
            <a:pPr rtl="0"/>
            <a:r>
              <a:rPr lang="en-GB"/>
              <a:t>20XX</a:t>
            </a:r>
          </a:p>
        </p:txBody>
      </p:sp>
      <p:sp>
        <p:nvSpPr>
          <p:cNvPr id="81" name="Footer Placeholder 80">
            <a:extLst>
              <a:ext uri="{FF2B5EF4-FFF2-40B4-BE49-F238E27FC236}">
                <a16:creationId xmlns:a16="http://schemas.microsoft.com/office/drawing/2014/main" id="{4AAF09C4-9912-6E72-ABEE-7FA6EE187801}"/>
              </a:ext>
            </a:extLst>
          </p:cNvPr>
          <p:cNvSpPr>
            <a:spLocks noGrp="1"/>
          </p:cNvSpPr>
          <p:nvPr>
            <p:ph type="ftr" sz="quarter" idx="21"/>
          </p:nvPr>
        </p:nvSpPr>
        <p:spPr>
          <a:xfrm>
            <a:off x="4038600" y="6356350"/>
            <a:ext cx="4114800" cy="365125"/>
          </a:xfrm>
        </p:spPr>
        <p:txBody>
          <a:bodyPr rtlCol="0"/>
          <a:lstStyle/>
          <a:p>
            <a:pPr rtl="0"/>
            <a:r>
              <a:rPr lang="en-GB"/>
              <a:t>Pitch Deck</a:t>
            </a:r>
          </a:p>
        </p:txBody>
      </p:sp>
      <p:sp>
        <p:nvSpPr>
          <p:cNvPr id="82" name="Slide Number Placeholder 81">
            <a:extLst>
              <a:ext uri="{FF2B5EF4-FFF2-40B4-BE49-F238E27FC236}">
                <a16:creationId xmlns:a16="http://schemas.microsoft.com/office/drawing/2014/main" id="{30C7D690-FBBB-AB51-B2AF-6393AFC0B20F}"/>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15</a:t>
            </a:fld>
            <a:endParaRPr lang="en-GB" dirty="0"/>
          </a:p>
        </p:txBody>
      </p:sp>
      <p:pic>
        <p:nvPicPr>
          <p:cNvPr id="14" name="Picture 13">
            <a:extLst>
              <a:ext uri="{FF2B5EF4-FFF2-40B4-BE49-F238E27FC236}">
                <a16:creationId xmlns:a16="http://schemas.microsoft.com/office/drawing/2014/main" id="{A43FCE19-794D-2B22-9F31-C6DE6A012964}"/>
              </a:ext>
            </a:extLst>
          </p:cNvPr>
          <p:cNvPicPr>
            <a:picLocks noChangeAspect="1"/>
          </p:cNvPicPr>
          <p:nvPr/>
        </p:nvPicPr>
        <p:blipFill>
          <a:blip r:embed="rId3"/>
          <a:stretch>
            <a:fillRect/>
          </a:stretch>
        </p:blipFill>
        <p:spPr>
          <a:xfrm>
            <a:off x="563972" y="1464242"/>
            <a:ext cx="911213" cy="1535786"/>
          </a:xfrm>
          <a:prstGeom prst="rect">
            <a:avLst/>
          </a:prstGeom>
        </p:spPr>
      </p:pic>
      <p:pic>
        <p:nvPicPr>
          <p:cNvPr id="16" name="Picture 15">
            <a:extLst>
              <a:ext uri="{FF2B5EF4-FFF2-40B4-BE49-F238E27FC236}">
                <a16:creationId xmlns:a16="http://schemas.microsoft.com/office/drawing/2014/main" id="{795CDE74-2DEB-6664-07FC-C010B243B26F}"/>
              </a:ext>
            </a:extLst>
          </p:cNvPr>
          <p:cNvPicPr>
            <a:picLocks noChangeAspect="1"/>
          </p:cNvPicPr>
          <p:nvPr/>
        </p:nvPicPr>
        <p:blipFill>
          <a:blip r:embed="rId4"/>
          <a:stretch>
            <a:fillRect/>
          </a:stretch>
        </p:blipFill>
        <p:spPr>
          <a:xfrm>
            <a:off x="6747116" y="1413286"/>
            <a:ext cx="1093149" cy="1842427"/>
          </a:xfrm>
          <a:prstGeom prst="rect">
            <a:avLst/>
          </a:prstGeom>
        </p:spPr>
      </p:pic>
      <p:pic>
        <p:nvPicPr>
          <p:cNvPr id="18" name="Picture 17">
            <a:extLst>
              <a:ext uri="{FF2B5EF4-FFF2-40B4-BE49-F238E27FC236}">
                <a16:creationId xmlns:a16="http://schemas.microsoft.com/office/drawing/2014/main" id="{87CC23CC-928E-BE27-031C-561722DA9266}"/>
              </a:ext>
            </a:extLst>
          </p:cNvPr>
          <p:cNvPicPr>
            <a:picLocks noChangeAspect="1"/>
          </p:cNvPicPr>
          <p:nvPr/>
        </p:nvPicPr>
        <p:blipFill>
          <a:blip r:embed="rId5"/>
          <a:stretch>
            <a:fillRect/>
          </a:stretch>
        </p:blipFill>
        <p:spPr>
          <a:xfrm>
            <a:off x="503904" y="4083113"/>
            <a:ext cx="1104887" cy="1835480"/>
          </a:xfrm>
          <a:prstGeom prst="rect">
            <a:avLst/>
          </a:prstGeom>
        </p:spPr>
      </p:pic>
      <p:sp>
        <p:nvSpPr>
          <p:cNvPr id="19" name="TextBox 18">
            <a:extLst>
              <a:ext uri="{FF2B5EF4-FFF2-40B4-BE49-F238E27FC236}">
                <a16:creationId xmlns:a16="http://schemas.microsoft.com/office/drawing/2014/main" id="{5A85FCFC-E0C9-BAD0-D98B-A9CA278D883B}"/>
              </a:ext>
            </a:extLst>
          </p:cNvPr>
          <p:cNvSpPr txBox="1"/>
          <p:nvPr/>
        </p:nvSpPr>
        <p:spPr>
          <a:xfrm>
            <a:off x="692150" y="1568450"/>
            <a:ext cx="673100" cy="169277"/>
          </a:xfrm>
          <a:prstGeom prst="rect">
            <a:avLst/>
          </a:prstGeom>
          <a:noFill/>
        </p:spPr>
        <p:txBody>
          <a:bodyPr wrap="square" rtlCol="0">
            <a:spAutoFit/>
          </a:bodyPr>
          <a:lstStyle/>
          <a:p>
            <a:r>
              <a:rPr lang="en-GB" sz="500" dirty="0"/>
              <a:t>Title</a:t>
            </a:r>
          </a:p>
        </p:txBody>
      </p:sp>
      <p:sp>
        <p:nvSpPr>
          <p:cNvPr id="20" name="TextBox 19">
            <a:extLst>
              <a:ext uri="{FF2B5EF4-FFF2-40B4-BE49-F238E27FC236}">
                <a16:creationId xmlns:a16="http://schemas.microsoft.com/office/drawing/2014/main" id="{AF94A8E6-D07C-A78C-39D4-65EA6CC7C953}"/>
              </a:ext>
            </a:extLst>
          </p:cNvPr>
          <p:cNvSpPr txBox="1"/>
          <p:nvPr/>
        </p:nvSpPr>
        <p:spPr>
          <a:xfrm>
            <a:off x="1092851" y="2744268"/>
            <a:ext cx="441737" cy="169277"/>
          </a:xfrm>
          <a:prstGeom prst="rect">
            <a:avLst/>
          </a:prstGeom>
          <a:noFill/>
        </p:spPr>
        <p:txBody>
          <a:bodyPr wrap="square" rtlCol="0">
            <a:spAutoFit/>
          </a:bodyPr>
          <a:lstStyle/>
          <a:p>
            <a:r>
              <a:rPr lang="en-GB" sz="500" dirty="0"/>
              <a:t>Options</a:t>
            </a:r>
          </a:p>
        </p:txBody>
      </p:sp>
      <p:sp>
        <p:nvSpPr>
          <p:cNvPr id="21" name="TextBox 20">
            <a:extLst>
              <a:ext uri="{FF2B5EF4-FFF2-40B4-BE49-F238E27FC236}">
                <a16:creationId xmlns:a16="http://schemas.microsoft.com/office/drawing/2014/main" id="{9A02B611-6A34-4220-67A0-8E280BAFF579}"/>
              </a:ext>
            </a:extLst>
          </p:cNvPr>
          <p:cNvSpPr txBox="1"/>
          <p:nvPr/>
        </p:nvSpPr>
        <p:spPr>
          <a:xfrm>
            <a:off x="542810" y="2736173"/>
            <a:ext cx="441737" cy="215444"/>
          </a:xfrm>
          <a:prstGeom prst="rect">
            <a:avLst/>
          </a:prstGeom>
          <a:noFill/>
        </p:spPr>
        <p:txBody>
          <a:bodyPr wrap="square" rtlCol="0">
            <a:spAutoFit/>
          </a:bodyPr>
          <a:lstStyle/>
          <a:p>
            <a:r>
              <a:rPr lang="en-GB" sz="400" dirty="0"/>
              <a:t>Credits</a:t>
            </a:r>
          </a:p>
          <a:p>
            <a:endParaRPr lang="en-GB" sz="400" dirty="0"/>
          </a:p>
        </p:txBody>
      </p:sp>
      <p:sp>
        <p:nvSpPr>
          <p:cNvPr id="22" name="TextBox 21">
            <a:extLst>
              <a:ext uri="{FF2B5EF4-FFF2-40B4-BE49-F238E27FC236}">
                <a16:creationId xmlns:a16="http://schemas.microsoft.com/office/drawing/2014/main" id="{7D3664B7-C8A9-0FB8-4740-8A80E86D3787}"/>
              </a:ext>
            </a:extLst>
          </p:cNvPr>
          <p:cNvSpPr txBox="1"/>
          <p:nvPr/>
        </p:nvSpPr>
        <p:spPr>
          <a:xfrm>
            <a:off x="6842125" y="1504950"/>
            <a:ext cx="908050" cy="261610"/>
          </a:xfrm>
          <a:prstGeom prst="rect">
            <a:avLst/>
          </a:prstGeom>
          <a:noFill/>
        </p:spPr>
        <p:txBody>
          <a:bodyPr wrap="square" rtlCol="0">
            <a:spAutoFit/>
          </a:bodyPr>
          <a:lstStyle/>
          <a:p>
            <a:r>
              <a:rPr lang="en-GB" sz="1050" dirty="0"/>
              <a:t>Top Ui</a:t>
            </a:r>
          </a:p>
        </p:txBody>
      </p:sp>
      <p:sp>
        <p:nvSpPr>
          <p:cNvPr id="23" name="TextBox 22">
            <a:extLst>
              <a:ext uri="{FF2B5EF4-FFF2-40B4-BE49-F238E27FC236}">
                <a16:creationId xmlns:a16="http://schemas.microsoft.com/office/drawing/2014/main" id="{E1BD7E53-CD41-55D4-BC36-50552F0DC190}"/>
              </a:ext>
            </a:extLst>
          </p:cNvPr>
          <p:cNvSpPr txBox="1"/>
          <p:nvPr/>
        </p:nvSpPr>
        <p:spPr>
          <a:xfrm>
            <a:off x="6842125" y="2101330"/>
            <a:ext cx="908050" cy="415498"/>
          </a:xfrm>
          <a:prstGeom prst="rect">
            <a:avLst/>
          </a:prstGeom>
          <a:noFill/>
        </p:spPr>
        <p:txBody>
          <a:bodyPr wrap="square" rtlCol="0">
            <a:spAutoFit/>
          </a:bodyPr>
          <a:lstStyle/>
          <a:p>
            <a:r>
              <a:rPr lang="en-GB" sz="1050" dirty="0"/>
              <a:t>Bamboo Plant</a:t>
            </a:r>
          </a:p>
        </p:txBody>
      </p:sp>
      <p:sp>
        <p:nvSpPr>
          <p:cNvPr id="24" name="TextBox 23">
            <a:extLst>
              <a:ext uri="{FF2B5EF4-FFF2-40B4-BE49-F238E27FC236}">
                <a16:creationId xmlns:a16="http://schemas.microsoft.com/office/drawing/2014/main" id="{8B37F420-A004-2681-B98F-433DACEC760D}"/>
              </a:ext>
            </a:extLst>
          </p:cNvPr>
          <p:cNvSpPr txBox="1"/>
          <p:nvPr/>
        </p:nvSpPr>
        <p:spPr>
          <a:xfrm>
            <a:off x="6932215" y="2821212"/>
            <a:ext cx="908050" cy="184666"/>
          </a:xfrm>
          <a:prstGeom prst="rect">
            <a:avLst/>
          </a:prstGeom>
          <a:noFill/>
        </p:spPr>
        <p:txBody>
          <a:bodyPr wrap="square" rtlCol="0">
            <a:spAutoFit/>
          </a:bodyPr>
          <a:lstStyle/>
          <a:p>
            <a:r>
              <a:rPr lang="en-GB" sz="600" dirty="0"/>
              <a:t>Bottom Ui</a:t>
            </a:r>
          </a:p>
        </p:txBody>
      </p:sp>
      <p:sp>
        <p:nvSpPr>
          <p:cNvPr id="26" name="TextBox 25">
            <a:extLst>
              <a:ext uri="{FF2B5EF4-FFF2-40B4-BE49-F238E27FC236}">
                <a16:creationId xmlns:a16="http://schemas.microsoft.com/office/drawing/2014/main" id="{0A9FC760-5B66-F917-6BD3-83F79EDE1053}"/>
              </a:ext>
            </a:extLst>
          </p:cNvPr>
          <p:cNvSpPr txBox="1"/>
          <p:nvPr/>
        </p:nvSpPr>
        <p:spPr>
          <a:xfrm>
            <a:off x="692150" y="4251325"/>
            <a:ext cx="736600" cy="200055"/>
          </a:xfrm>
          <a:prstGeom prst="rect">
            <a:avLst/>
          </a:prstGeom>
          <a:noFill/>
        </p:spPr>
        <p:txBody>
          <a:bodyPr wrap="square" rtlCol="0">
            <a:spAutoFit/>
          </a:bodyPr>
          <a:lstStyle/>
          <a:p>
            <a:r>
              <a:rPr lang="en-GB" sz="700" dirty="0"/>
              <a:t>Text</a:t>
            </a:r>
          </a:p>
        </p:txBody>
      </p:sp>
      <p:sp>
        <p:nvSpPr>
          <p:cNvPr id="27" name="TextBox 26">
            <a:extLst>
              <a:ext uri="{FF2B5EF4-FFF2-40B4-BE49-F238E27FC236}">
                <a16:creationId xmlns:a16="http://schemas.microsoft.com/office/drawing/2014/main" id="{F200A21F-2D61-C6EA-3B5F-DED4434105F8}"/>
              </a:ext>
            </a:extLst>
          </p:cNvPr>
          <p:cNvSpPr txBox="1"/>
          <p:nvPr/>
        </p:nvSpPr>
        <p:spPr>
          <a:xfrm>
            <a:off x="688047" y="4625144"/>
            <a:ext cx="736600" cy="200055"/>
          </a:xfrm>
          <a:prstGeom prst="rect">
            <a:avLst/>
          </a:prstGeom>
          <a:noFill/>
        </p:spPr>
        <p:txBody>
          <a:bodyPr wrap="square" rtlCol="0">
            <a:spAutoFit/>
          </a:bodyPr>
          <a:lstStyle/>
          <a:p>
            <a:r>
              <a:rPr lang="en-GB" sz="700" dirty="0"/>
              <a:t>Slider</a:t>
            </a:r>
          </a:p>
        </p:txBody>
      </p:sp>
      <p:sp>
        <p:nvSpPr>
          <p:cNvPr id="28" name="TextBox 27">
            <a:extLst>
              <a:ext uri="{FF2B5EF4-FFF2-40B4-BE49-F238E27FC236}">
                <a16:creationId xmlns:a16="http://schemas.microsoft.com/office/drawing/2014/main" id="{2C4C1149-F2EE-88E0-DCF9-7B8BA4EA49E2}"/>
              </a:ext>
            </a:extLst>
          </p:cNvPr>
          <p:cNvSpPr txBox="1"/>
          <p:nvPr/>
        </p:nvSpPr>
        <p:spPr>
          <a:xfrm>
            <a:off x="688047" y="4798021"/>
            <a:ext cx="736600" cy="200055"/>
          </a:xfrm>
          <a:prstGeom prst="rect">
            <a:avLst/>
          </a:prstGeom>
          <a:noFill/>
        </p:spPr>
        <p:txBody>
          <a:bodyPr wrap="square" rtlCol="0">
            <a:spAutoFit/>
          </a:bodyPr>
          <a:lstStyle/>
          <a:p>
            <a:r>
              <a:rPr lang="en-GB" sz="700" dirty="0"/>
              <a:t>Slider</a:t>
            </a:r>
          </a:p>
        </p:txBody>
      </p:sp>
      <p:sp>
        <p:nvSpPr>
          <p:cNvPr id="29" name="TextBox 28">
            <a:extLst>
              <a:ext uri="{FF2B5EF4-FFF2-40B4-BE49-F238E27FC236}">
                <a16:creationId xmlns:a16="http://schemas.microsoft.com/office/drawing/2014/main" id="{9B5C5FC0-96BC-7937-E782-574F5001F742}"/>
              </a:ext>
            </a:extLst>
          </p:cNvPr>
          <p:cNvSpPr txBox="1"/>
          <p:nvPr/>
        </p:nvSpPr>
        <p:spPr>
          <a:xfrm>
            <a:off x="724551" y="5084959"/>
            <a:ext cx="736600" cy="200055"/>
          </a:xfrm>
          <a:prstGeom prst="rect">
            <a:avLst/>
          </a:prstGeom>
          <a:noFill/>
        </p:spPr>
        <p:txBody>
          <a:bodyPr wrap="square" rtlCol="0">
            <a:spAutoFit/>
          </a:bodyPr>
          <a:lstStyle/>
          <a:p>
            <a:r>
              <a:rPr lang="en-GB" sz="700" dirty="0"/>
              <a:t>Toggles</a:t>
            </a:r>
          </a:p>
        </p:txBody>
      </p:sp>
      <p:sp>
        <p:nvSpPr>
          <p:cNvPr id="30" name="TextBox 29">
            <a:extLst>
              <a:ext uri="{FF2B5EF4-FFF2-40B4-BE49-F238E27FC236}">
                <a16:creationId xmlns:a16="http://schemas.microsoft.com/office/drawing/2014/main" id="{1E7BB489-B4FA-6FD6-54D9-A0629122C044}"/>
              </a:ext>
            </a:extLst>
          </p:cNvPr>
          <p:cNvSpPr txBox="1"/>
          <p:nvPr/>
        </p:nvSpPr>
        <p:spPr>
          <a:xfrm>
            <a:off x="688047" y="5285014"/>
            <a:ext cx="736600" cy="200055"/>
          </a:xfrm>
          <a:prstGeom prst="rect">
            <a:avLst/>
          </a:prstGeom>
          <a:noFill/>
        </p:spPr>
        <p:txBody>
          <a:bodyPr wrap="square" rtlCol="0">
            <a:spAutoFit/>
          </a:bodyPr>
          <a:lstStyle/>
          <a:p>
            <a:r>
              <a:rPr lang="en-GB" sz="700" dirty="0"/>
              <a:t>Toggles</a:t>
            </a:r>
          </a:p>
        </p:txBody>
      </p:sp>
      <p:sp>
        <p:nvSpPr>
          <p:cNvPr id="31" name="TextBox 30">
            <a:extLst>
              <a:ext uri="{FF2B5EF4-FFF2-40B4-BE49-F238E27FC236}">
                <a16:creationId xmlns:a16="http://schemas.microsoft.com/office/drawing/2014/main" id="{9DB5CC79-6F5B-D7C4-3C4A-3EE0D87F4303}"/>
              </a:ext>
            </a:extLst>
          </p:cNvPr>
          <p:cNvSpPr txBox="1"/>
          <p:nvPr/>
        </p:nvSpPr>
        <p:spPr>
          <a:xfrm>
            <a:off x="858760" y="5522716"/>
            <a:ext cx="736600" cy="200055"/>
          </a:xfrm>
          <a:prstGeom prst="rect">
            <a:avLst/>
          </a:prstGeom>
          <a:noFill/>
        </p:spPr>
        <p:txBody>
          <a:bodyPr wrap="square" rtlCol="0">
            <a:spAutoFit/>
          </a:bodyPr>
          <a:lstStyle/>
          <a:p>
            <a:r>
              <a:rPr lang="en-GB" sz="700" dirty="0"/>
              <a:t>Back</a:t>
            </a:r>
          </a:p>
        </p:txBody>
      </p:sp>
      <p:pic>
        <p:nvPicPr>
          <p:cNvPr id="33" name="Picture 32">
            <a:extLst>
              <a:ext uri="{FF2B5EF4-FFF2-40B4-BE49-F238E27FC236}">
                <a16:creationId xmlns:a16="http://schemas.microsoft.com/office/drawing/2014/main" id="{51E96AFE-FE46-1C52-DEAD-2B6AD29D029D}"/>
              </a:ext>
            </a:extLst>
          </p:cNvPr>
          <p:cNvPicPr>
            <a:picLocks noChangeAspect="1"/>
          </p:cNvPicPr>
          <p:nvPr/>
        </p:nvPicPr>
        <p:blipFill>
          <a:blip r:embed="rId6"/>
          <a:stretch>
            <a:fillRect/>
          </a:stretch>
        </p:blipFill>
        <p:spPr>
          <a:xfrm>
            <a:off x="6731270" y="3850808"/>
            <a:ext cx="1235415" cy="2094479"/>
          </a:xfrm>
          <a:prstGeom prst="rect">
            <a:avLst/>
          </a:prstGeom>
        </p:spPr>
      </p:pic>
      <p:sp>
        <p:nvSpPr>
          <p:cNvPr id="34" name="TextBox 33">
            <a:extLst>
              <a:ext uri="{FF2B5EF4-FFF2-40B4-BE49-F238E27FC236}">
                <a16:creationId xmlns:a16="http://schemas.microsoft.com/office/drawing/2014/main" id="{87D15A3E-D2F9-5DA9-DCC1-47AE044E1AB2}"/>
              </a:ext>
            </a:extLst>
          </p:cNvPr>
          <p:cNvSpPr txBox="1"/>
          <p:nvPr/>
        </p:nvSpPr>
        <p:spPr>
          <a:xfrm>
            <a:off x="7103665" y="3924754"/>
            <a:ext cx="736600" cy="200055"/>
          </a:xfrm>
          <a:prstGeom prst="rect">
            <a:avLst/>
          </a:prstGeom>
          <a:noFill/>
        </p:spPr>
        <p:txBody>
          <a:bodyPr wrap="square" rtlCol="0">
            <a:spAutoFit/>
          </a:bodyPr>
          <a:lstStyle/>
          <a:p>
            <a:r>
              <a:rPr lang="en-GB" sz="700" dirty="0"/>
              <a:t>Text</a:t>
            </a:r>
          </a:p>
        </p:txBody>
      </p:sp>
      <p:sp>
        <p:nvSpPr>
          <p:cNvPr id="35" name="TextBox 34">
            <a:extLst>
              <a:ext uri="{FF2B5EF4-FFF2-40B4-BE49-F238E27FC236}">
                <a16:creationId xmlns:a16="http://schemas.microsoft.com/office/drawing/2014/main" id="{A8288AAE-3DD8-5ADC-578D-FA37A40BA254}"/>
              </a:ext>
            </a:extLst>
          </p:cNvPr>
          <p:cNvSpPr txBox="1"/>
          <p:nvPr/>
        </p:nvSpPr>
        <p:spPr>
          <a:xfrm>
            <a:off x="6842125" y="4472194"/>
            <a:ext cx="736600" cy="200055"/>
          </a:xfrm>
          <a:prstGeom prst="rect">
            <a:avLst/>
          </a:prstGeom>
          <a:noFill/>
        </p:spPr>
        <p:txBody>
          <a:bodyPr wrap="square" rtlCol="0">
            <a:spAutoFit/>
          </a:bodyPr>
          <a:lstStyle/>
          <a:p>
            <a:r>
              <a:rPr lang="en-GB" sz="700" dirty="0"/>
              <a:t>Upgrades</a:t>
            </a:r>
          </a:p>
        </p:txBody>
      </p:sp>
      <p:sp>
        <p:nvSpPr>
          <p:cNvPr id="36" name="TextBox 35">
            <a:extLst>
              <a:ext uri="{FF2B5EF4-FFF2-40B4-BE49-F238E27FC236}">
                <a16:creationId xmlns:a16="http://schemas.microsoft.com/office/drawing/2014/main" id="{E3D053DB-7E4D-552E-DA80-BAE225F16520}"/>
              </a:ext>
            </a:extLst>
          </p:cNvPr>
          <p:cNvSpPr txBox="1"/>
          <p:nvPr/>
        </p:nvSpPr>
        <p:spPr>
          <a:xfrm>
            <a:off x="7503715" y="4197504"/>
            <a:ext cx="736600" cy="200055"/>
          </a:xfrm>
          <a:prstGeom prst="rect">
            <a:avLst/>
          </a:prstGeom>
          <a:noFill/>
        </p:spPr>
        <p:txBody>
          <a:bodyPr wrap="square" rtlCol="0">
            <a:spAutoFit/>
          </a:bodyPr>
          <a:lstStyle/>
          <a:p>
            <a:r>
              <a:rPr lang="en-GB" sz="700" dirty="0"/>
              <a:t>buy</a:t>
            </a:r>
          </a:p>
        </p:txBody>
      </p:sp>
      <p:sp>
        <p:nvSpPr>
          <p:cNvPr id="37" name="TextBox 36">
            <a:extLst>
              <a:ext uri="{FF2B5EF4-FFF2-40B4-BE49-F238E27FC236}">
                <a16:creationId xmlns:a16="http://schemas.microsoft.com/office/drawing/2014/main" id="{311A83DE-02AC-F7FA-BE6B-C1BF9CDA9B63}"/>
              </a:ext>
            </a:extLst>
          </p:cNvPr>
          <p:cNvSpPr txBox="1"/>
          <p:nvPr/>
        </p:nvSpPr>
        <p:spPr>
          <a:xfrm>
            <a:off x="7503715" y="4432317"/>
            <a:ext cx="736600" cy="200055"/>
          </a:xfrm>
          <a:prstGeom prst="rect">
            <a:avLst/>
          </a:prstGeom>
          <a:noFill/>
        </p:spPr>
        <p:txBody>
          <a:bodyPr wrap="square" rtlCol="0">
            <a:spAutoFit/>
          </a:bodyPr>
          <a:lstStyle/>
          <a:p>
            <a:r>
              <a:rPr lang="en-GB" sz="700" dirty="0"/>
              <a:t>buy</a:t>
            </a:r>
          </a:p>
        </p:txBody>
      </p:sp>
      <p:sp>
        <p:nvSpPr>
          <p:cNvPr id="38" name="TextBox 37">
            <a:extLst>
              <a:ext uri="{FF2B5EF4-FFF2-40B4-BE49-F238E27FC236}">
                <a16:creationId xmlns:a16="http://schemas.microsoft.com/office/drawing/2014/main" id="{BCD002CC-5905-66AC-B4F8-7F2137698565}"/>
              </a:ext>
            </a:extLst>
          </p:cNvPr>
          <p:cNvSpPr txBox="1"/>
          <p:nvPr/>
        </p:nvSpPr>
        <p:spPr>
          <a:xfrm>
            <a:off x="7503715" y="4679666"/>
            <a:ext cx="736600" cy="200055"/>
          </a:xfrm>
          <a:prstGeom prst="rect">
            <a:avLst/>
          </a:prstGeom>
          <a:noFill/>
        </p:spPr>
        <p:txBody>
          <a:bodyPr wrap="square" rtlCol="0">
            <a:spAutoFit/>
          </a:bodyPr>
          <a:lstStyle/>
          <a:p>
            <a:r>
              <a:rPr lang="en-GB" sz="700" dirty="0"/>
              <a:t>buy</a:t>
            </a:r>
          </a:p>
        </p:txBody>
      </p:sp>
      <p:sp>
        <p:nvSpPr>
          <p:cNvPr id="39" name="TextBox 38">
            <a:extLst>
              <a:ext uri="{FF2B5EF4-FFF2-40B4-BE49-F238E27FC236}">
                <a16:creationId xmlns:a16="http://schemas.microsoft.com/office/drawing/2014/main" id="{02228A85-A41A-B981-F33A-7FA1305A593F}"/>
              </a:ext>
            </a:extLst>
          </p:cNvPr>
          <p:cNvSpPr txBox="1"/>
          <p:nvPr/>
        </p:nvSpPr>
        <p:spPr>
          <a:xfrm>
            <a:off x="7503715" y="4899649"/>
            <a:ext cx="736600" cy="200055"/>
          </a:xfrm>
          <a:prstGeom prst="rect">
            <a:avLst/>
          </a:prstGeom>
          <a:noFill/>
        </p:spPr>
        <p:txBody>
          <a:bodyPr wrap="square" rtlCol="0">
            <a:spAutoFit/>
          </a:bodyPr>
          <a:lstStyle/>
          <a:p>
            <a:r>
              <a:rPr lang="en-GB" sz="700" dirty="0"/>
              <a:t>buy</a:t>
            </a:r>
          </a:p>
        </p:txBody>
      </p:sp>
      <p:sp>
        <p:nvSpPr>
          <p:cNvPr id="40" name="TextBox 39">
            <a:extLst>
              <a:ext uri="{FF2B5EF4-FFF2-40B4-BE49-F238E27FC236}">
                <a16:creationId xmlns:a16="http://schemas.microsoft.com/office/drawing/2014/main" id="{B1D05381-E8CC-263C-47ED-BA0E1814ABA7}"/>
              </a:ext>
            </a:extLst>
          </p:cNvPr>
          <p:cNvSpPr txBox="1"/>
          <p:nvPr/>
        </p:nvSpPr>
        <p:spPr>
          <a:xfrm>
            <a:off x="7507500" y="5106215"/>
            <a:ext cx="736600" cy="200055"/>
          </a:xfrm>
          <a:prstGeom prst="rect">
            <a:avLst/>
          </a:prstGeom>
          <a:noFill/>
        </p:spPr>
        <p:txBody>
          <a:bodyPr wrap="square" rtlCol="0">
            <a:spAutoFit/>
          </a:bodyPr>
          <a:lstStyle/>
          <a:p>
            <a:r>
              <a:rPr lang="en-GB" sz="700" dirty="0"/>
              <a:t>buy</a:t>
            </a:r>
          </a:p>
        </p:txBody>
      </p:sp>
      <p:sp>
        <p:nvSpPr>
          <p:cNvPr id="41" name="TextBox 40">
            <a:extLst>
              <a:ext uri="{FF2B5EF4-FFF2-40B4-BE49-F238E27FC236}">
                <a16:creationId xmlns:a16="http://schemas.microsoft.com/office/drawing/2014/main" id="{22DFB9F3-DB13-151A-12AA-BD98BBFFC2AA}"/>
              </a:ext>
            </a:extLst>
          </p:cNvPr>
          <p:cNvSpPr txBox="1"/>
          <p:nvPr/>
        </p:nvSpPr>
        <p:spPr>
          <a:xfrm>
            <a:off x="7507500" y="5361002"/>
            <a:ext cx="736600" cy="200055"/>
          </a:xfrm>
          <a:prstGeom prst="rect">
            <a:avLst/>
          </a:prstGeom>
          <a:noFill/>
        </p:spPr>
        <p:txBody>
          <a:bodyPr wrap="square" rtlCol="0">
            <a:spAutoFit/>
          </a:bodyPr>
          <a:lstStyle/>
          <a:p>
            <a:r>
              <a:rPr lang="en-GB" sz="700" dirty="0"/>
              <a:t>buy</a:t>
            </a:r>
          </a:p>
        </p:txBody>
      </p:sp>
      <p:sp>
        <p:nvSpPr>
          <p:cNvPr id="42" name="TextBox 41">
            <a:extLst>
              <a:ext uri="{FF2B5EF4-FFF2-40B4-BE49-F238E27FC236}">
                <a16:creationId xmlns:a16="http://schemas.microsoft.com/office/drawing/2014/main" id="{A1DD3159-E593-196F-A9C8-24D0A7AEB7F0}"/>
              </a:ext>
            </a:extLst>
          </p:cNvPr>
          <p:cNvSpPr txBox="1"/>
          <p:nvPr/>
        </p:nvSpPr>
        <p:spPr>
          <a:xfrm>
            <a:off x="7146130" y="5658855"/>
            <a:ext cx="736600" cy="200055"/>
          </a:xfrm>
          <a:prstGeom prst="rect">
            <a:avLst/>
          </a:prstGeom>
          <a:noFill/>
        </p:spPr>
        <p:txBody>
          <a:bodyPr wrap="square" rtlCol="0">
            <a:spAutoFit/>
          </a:bodyPr>
          <a:lstStyle/>
          <a:p>
            <a:r>
              <a:rPr lang="en-GB" sz="700" dirty="0"/>
              <a:t>back</a:t>
            </a:r>
          </a:p>
        </p:txBody>
      </p:sp>
      <p:sp>
        <p:nvSpPr>
          <p:cNvPr id="47" name="Text Placeholder 4">
            <a:extLst>
              <a:ext uri="{FF2B5EF4-FFF2-40B4-BE49-F238E27FC236}">
                <a16:creationId xmlns:a16="http://schemas.microsoft.com/office/drawing/2014/main" id="{FB9536BD-D906-6EB1-8122-C435839175E6}"/>
              </a:ext>
            </a:extLst>
          </p:cNvPr>
          <p:cNvSpPr txBox="1">
            <a:spLocks/>
          </p:cNvSpPr>
          <p:nvPr/>
        </p:nvSpPr>
        <p:spPr>
          <a:xfrm>
            <a:off x="8054318" y="3576118"/>
            <a:ext cx="4031945" cy="365125"/>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Upgrades Scene</a:t>
            </a:r>
          </a:p>
        </p:txBody>
      </p:sp>
      <p:sp>
        <p:nvSpPr>
          <p:cNvPr id="48" name="Text Placeholder 5">
            <a:extLst>
              <a:ext uri="{FF2B5EF4-FFF2-40B4-BE49-F238E27FC236}">
                <a16:creationId xmlns:a16="http://schemas.microsoft.com/office/drawing/2014/main" id="{F2A9E84C-E246-9630-A7EC-F6E91EDB8B49}"/>
              </a:ext>
            </a:extLst>
          </p:cNvPr>
          <p:cNvSpPr txBox="1">
            <a:spLocks/>
          </p:cNvSpPr>
          <p:nvPr/>
        </p:nvSpPr>
        <p:spPr>
          <a:xfrm>
            <a:off x="8180738" y="4083342"/>
            <a:ext cx="4031030" cy="1969777"/>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Arial" panose="020B0604020202020204" pitchFamily="34" charset="0"/>
              <a:buChar char="•"/>
            </a:pPr>
            <a:r>
              <a:rPr lang="en-GB" dirty="0"/>
              <a:t>Placed buy buttons on right side of screen since most people hold their phone with right hand</a:t>
            </a:r>
          </a:p>
          <a:p>
            <a:pPr marL="285750" indent="-285750" algn="l">
              <a:buFont typeface="Arial" panose="020B0604020202020204" pitchFamily="34" charset="0"/>
              <a:buChar char="•"/>
            </a:pPr>
            <a:r>
              <a:rPr lang="en-GB" dirty="0"/>
              <a:t>Most buttons are easily accessed</a:t>
            </a:r>
          </a:p>
        </p:txBody>
      </p:sp>
    </p:spTree>
    <p:extLst>
      <p:ext uri="{BB962C8B-B14F-4D97-AF65-F5344CB8AC3E}">
        <p14:creationId xmlns:p14="http://schemas.microsoft.com/office/powerpoint/2010/main" val="1409527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BD5FF-DCA8-C4DC-0EB6-9F1AB39BF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21F60-3A57-B419-9C6A-9407D9699A0E}"/>
              </a:ext>
            </a:extLst>
          </p:cNvPr>
          <p:cNvSpPr>
            <a:spLocks noGrp="1"/>
          </p:cNvSpPr>
          <p:nvPr>
            <p:ph type="title"/>
          </p:nvPr>
        </p:nvSpPr>
        <p:spPr>
          <a:xfrm>
            <a:off x="1885156" y="43073"/>
            <a:ext cx="8421688" cy="1325563"/>
          </a:xfrm>
        </p:spPr>
        <p:txBody>
          <a:bodyPr rtlCol="0"/>
          <a:lstStyle/>
          <a:p>
            <a:pPr rtl="0"/>
            <a:r>
              <a:rPr lang="en-GB" dirty="0"/>
              <a:t>Current Ui implementation</a:t>
            </a:r>
          </a:p>
        </p:txBody>
      </p:sp>
      <p:sp>
        <p:nvSpPr>
          <p:cNvPr id="3" name="Content Placeholder 2">
            <a:extLst>
              <a:ext uri="{FF2B5EF4-FFF2-40B4-BE49-F238E27FC236}">
                <a16:creationId xmlns:a16="http://schemas.microsoft.com/office/drawing/2014/main" id="{08A1A697-A035-8070-ECEA-716B5926DB9B}"/>
              </a:ext>
            </a:extLst>
          </p:cNvPr>
          <p:cNvSpPr>
            <a:spLocks noGrp="1"/>
          </p:cNvSpPr>
          <p:nvPr>
            <p:ph type="body" sz="quarter" idx="13"/>
          </p:nvPr>
        </p:nvSpPr>
        <p:spPr>
          <a:xfrm>
            <a:off x="41427" y="1048161"/>
            <a:ext cx="4031945" cy="365125"/>
          </a:xfrm>
        </p:spPr>
        <p:txBody>
          <a:bodyPr vert="horz" lIns="91440" tIns="45720" rIns="91440" bIns="45720" rtlCol="0" anchor="t">
            <a:normAutofit lnSpcReduction="10000"/>
          </a:bodyPr>
          <a:lstStyle/>
          <a:p>
            <a:pPr rtl="0"/>
            <a:r>
              <a:rPr lang="en-GB" dirty="0"/>
              <a:t>Main Menu</a:t>
            </a:r>
          </a:p>
        </p:txBody>
      </p:sp>
      <p:sp>
        <p:nvSpPr>
          <p:cNvPr id="5" name="Text Placeholder 4">
            <a:extLst>
              <a:ext uri="{FF2B5EF4-FFF2-40B4-BE49-F238E27FC236}">
                <a16:creationId xmlns:a16="http://schemas.microsoft.com/office/drawing/2014/main" id="{172E07B3-6DFB-80D1-506C-4C32DED1C56B}"/>
              </a:ext>
            </a:extLst>
          </p:cNvPr>
          <p:cNvSpPr>
            <a:spLocks noGrp="1"/>
          </p:cNvSpPr>
          <p:nvPr>
            <p:ph type="body" sz="quarter" idx="16"/>
          </p:nvPr>
        </p:nvSpPr>
        <p:spPr>
          <a:xfrm>
            <a:off x="4015833" y="1164076"/>
            <a:ext cx="4031945" cy="365125"/>
          </a:xfrm>
        </p:spPr>
        <p:txBody>
          <a:bodyPr rtlCol="0">
            <a:normAutofit lnSpcReduction="10000"/>
          </a:bodyPr>
          <a:lstStyle/>
          <a:p>
            <a:pPr rtl="0"/>
            <a:r>
              <a:rPr lang="en-GB" dirty="0"/>
              <a:t>Game Scene</a:t>
            </a:r>
          </a:p>
        </p:txBody>
      </p:sp>
      <p:sp>
        <p:nvSpPr>
          <p:cNvPr id="7" name="Text Placeholder 6">
            <a:extLst>
              <a:ext uri="{FF2B5EF4-FFF2-40B4-BE49-F238E27FC236}">
                <a16:creationId xmlns:a16="http://schemas.microsoft.com/office/drawing/2014/main" id="{AD1FC217-C721-91B1-E051-077F4CD13BED}"/>
              </a:ext>
            </a:extLst>
          </p:cNvPr>
          <p:cNvSpPr>
            <a:spLocks noGrp="1"/>
          </p:cNvSpPr>
          <p:nvPr>
            <p:ph type="body" sz="quarter" idx="18"/>
          </p:nvPr>
        </p:nvSpPr>
        <p:spPr>
          <a:xfrm>
            <a:off x="8047778" y="1184004"/>
            <a:ext cx="4031945" cy="365125"/>
          </a:xfrm>
        </p:spPr>
        <p:txBody>
          <a:bodyPr rtlCol="0">
            <a:normAutofit lnSpcReduction="10000"/>
          </a:bodyPr>
          <a:lstStyle/>
          <a:p>
            <a:pPr rtl="0"/>
            <a:r>
              <a:rPr lang="en-GB" dirty="0"/>
              <a:t>Settings</a:t>
            </a:r>
          </a:p>
        </p:txBody>
      </p:sp>
      <p:sp>
        <p:nvSpPr>
          <p:cNvPr id="80" name="Date Placeholder 79">
            <a:extLst>
              <a:ext uri="{FF2B5EF4-FFF2-40B4-BE49-F238E27FC236}">
                <a16:creationId xmlns:a16="http://schemas.microsoft.com/office/drawing/2014/main" id="{59694BC8-4DFA-9601-7F31-93D2129B9C9F}"/>
              </a:ext>
            </a:extLst>
          </p:cNvPr>
          <p:cNvSpPr>
            <a:spLocks noGrp="1"/>
          </p:cNvSpPr>
          <p:nvPr>
            <p:ph type="dt" sz="half" idx="20"/>
          </p:nvPr>
        </p:nvSpPr>
        <p:spPr>
          <a:xfrm>
            <a:off x="838200" y="6356350"/>
            <a:ext cx="2743200" cy="365125"/>
          </a:xfrm>
        </p:spPr>
        <p:txBody>
          <a:bodyPr rtlCol="0"/>
          <a:lstStyle/>
          <a:p>
            <a:pPr rtl="0"/>
            <a:r>
              <a:rPr lang="en-GB"/>
              <a:t>20XX</a:t>
            </a:r>
          </a:p>
        </p:txBody>
      </p:sp>
      <p:sp>
        <p:nvSpPr>
          <p:cNvPr id="81" name="Footer Placeholder 80">
            <a:extLst>
              <a:ext uri="{FF2B5EF4-FFF2-40B4-BE49-F238E27FC236}">
                <a16:creationId xmlns:a16="http://schemas.microsoft.com/office/drawing/2014/main" id="{15A91117-3CFD-1E0F-A3F4-2C923FCC415E}"/>
              </a:ext>
            </a:extLst>
          </p:cNvPr>
          <p:cNvSpPr>
            <a:spLocks noGrp="1"/>
          </p:cNvSpPr>
          <p:nvPr>
            <p:ph type="ftr" sz="quarter" idx="21"/>
          </p:nvPr>
        </p:nvSpPr>
        <p:spPr>
          <a:xfrm>
            <a:off x="4038600" y="6356350"/>
            <a:ext cx="4114800" cy="365125"/>
          </a:xfrm>
        </p:spPr>
        <p:txBody>
          <a:bodyPr rtlCol="0"/>
          <a:lstStyle/>
          <a:p>
            <a:pPr rtl="0"/>
            <a:r>
              <a:rPr lang="en-GB"/>
              <a:t>Pitch Deck</a:t>
            </a:r>
          </a:p>
        </p:txBody>
      </p:sp>
      <p:sp>
        <p:nvSpPr>
          <p:cNvPr id="82" name="Slide Number Placeholder 81">
            <a:extLst>
              <a:ext uri="{FF2B5EF4-FFF2-40B4-BE49-F238E27FC236}">
                <a16:creationId xmlns:a16="http://schemas.microsoft.com/office/drawing/2014/main" id="{FC4EC334-73EA-51FE-C1C5-8FD0F32671D9}"/>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16</a:t>
            </a:fld>
            <a:endParaRPr lang="en-GB" dirty="0"/>
          </a:p>
        </p:txBody>
      </p:sp>
      <p:sp>
        <p:nvSpPr>
          <p:cNvPr id="19" name="TextBox 18">
            <a:extLst>
              <a:ext uri="{FF2B5EF4-FFF2-40B4-BE49-F238E27FC236}">
                <a16:creationId xmlns:a16="http://schemas.microsoft.com/office/drawing/2014/main" id="{11886EA2-BF58-0CD7-BCE3-E910A7FDAA54}"/>
              </a:ext>
            </a:extLst>
          </p:cNvPr>
          <p:cNvSpPr txBox="1"/>
          <p:nvPr/>
        </p:nvSpPr>
        <p:spPr>
          <a:xfrm>
            <a:off x="692150" y="1568450"/>
            <a:ext cx="673100" cy="169277"/>
          </a:xfrm>
          <a:prstGeom prst="rect">
            <a:avLst/>
          </a:prstGeom>
          <a:noFill/>
        </p:spPr>
        <p:txBody>
          <a:bodyPr wrap="square" rtlCol="0">
            <a:spAutoFit/>
          </a:bodyPr>
          <a:lstStyle/>
          <a:p>
            <a:r>
              <a:rPr lang="en-GB" sz="500" dirty="0"/>
              <a:t>Title</a:t>
            </a:r>
          </a:p>
        </p:txBody>
      </p:sp>
      <p:sp>
        <p:nvSpPr>
          <p:cNvPr id="20" name="TextBox 19">
            <a:extLst>
              <a:ext uri="{FF2B5EF4-FFF2-40B4-BE49-F238E27FC236}">
                <a16:creationId xmlns:a16="http://schemas.microsoft.com/office/drawing/2014/main" id="{FFED1064-33D3-8FCF-65B5-367906E076BF}"/>
              </a:ext>
            </a:extLst>
          </p:cNvPr>
          <p:cNvSpPr txBox="1"/>
          <p:nvPr/>
        </p:nvSpPr>
        <p:spPr>
          <a:xfrm>
            <a:off x="1092851" y="2744268"/>
            <a:ext cx="441737" cy="169277"/>
          </a:xfrm>
          <a:prstGeom prst="rect">
            <a:avLst/>
          </a:prstGeom>
          <a:noFill/>
        </p:spPr>
        <p:txBody>
          <a:bodyPr wrap="square" rtlCol="0">
            <a:spAutoFit/>
          </a:bodyPr>
          <a:lstStyle/>
          <a:p>
            <a:r>
              <a:rPr lang="en-GB" sz="500" dirty="0"/>
              <a:t>Options</a:t>
            </a:r>
          </a:p>
        </p:txBody>
      </p:sp>
      <p:sp>
        <p:nvSpPr>
          <p:cNvPr id="21" name="TextBox 20">
            <a:extLst>
              <a:ext uri="{FF2B5EF4-FFF2-40B4-BE49-F238E27FC236}">
                <a16:creationId xmlns:a16="http://schemas.microsoft.com/office/drawing/2014/main" id="{A2D54B0D-F329-F132-E80F-65D0DE80681D}"/>
              </a:ext>
            </a:extLst>
          </p:cNvPr>
          <p:cNvSpPr txBox="1"/>
          <p:nvPr/>
        </p:nvSpPr>
        <p:spPr>
          <a:xfrm>
            <a:off x="542810" y="2736173"/>
            <a:ext cx="441737" cy="215444"/>
          </a:xfrm>
          <a:prstGeom prst="rect">
            <a:avLst/>
          </a:prstGeom>
          <a:noFill/>
        </p:spPr>
        <p:txBody>
          <a:bodyPr wrap="square" rtlCol="0">
            <a:spAutoFit/>
          </a:bodyPr>
          <a:lstStyle/>
          <a:p>
            <a:r>
              <a:rPr lang="en-GB" sz="400" dirty="0"/>
              <a:t>Credits</a:t>
            </a:r>
          </a:p>
          <a:p>
            <a:endParaRPr lang="en-GB" sz="400" dirty="0"/>
          </a:p>
        </p:txBody>
      </p:sp>
      <p:sp>
        <p:nvSpPr>
          <p:cNvPr id="22" name="TextBox 21">
            <a:extLst>
              <a:ext uri="{FF2B5EF4-FFF2-40B4-BE49-F238E27FC236}">
                <a16:creationId xmlns:a16="http://schemas.microsoft.com/office/drawing/2014/main" id="{1EC007DC-6C3E-149F-B97E-65E75A29DF17}"/>
              </a:ext>
            </a:extLst>
          </p:cNvPr>
          <p:cNvSpPr txBox="1"/>
          <p:nvPr/>
        </p:nvSpPr>
        <p:spPr>
          <a:xfrm>
            <a:off x="6842125" y="1504950"/>
            <a:ext cx="908050" cy="261610"/>
          </a:xfrm>
          <a:prstGeom prst="rect">
            <a:avLst/>
          </a:prstGeom>
          <a:noFill/>
        </p:spPr>
        <p:txBody>
          <a:bodyPr wrap="square" rtlCol="0">
            <a:spAutoFit/>
          </a:bodyPr>
          <a:lstStyle/>
          <a:p>
            <a:r>
              <a:rPr lang="en-GB" sz="1050" dirty="0"/>
              <a:t>Top Ui</a:t>
            </a:r>
          </a:p>
        </p:txBody>
      </p:sp>
      <p:sp>
        <p:nvSpPr>
          <p:cNvPr id="23" name="TextBox 22">
            <a:extLst>
              <a:ext uri="{FF2B5EF4-FFF2-40B4-BE49-F238E27FC236}">
                <a16:creationId xmlns:a16="http://schemas.microsoft.com/office/drawing/2014/main" id="{94E8100B-D350-4BB4-0891-AD329A534186}"/>
              </a:ext>
            </a:extLst>
          </p:cNvPr>
          <p:cNvSpPr txBox="1"/>
          <p:nvPr/>
        </p:nvSpPr>
        <p:spPr>
          <a:xfrm>
            <a:off x="6842125" y="2101330"/>
            <a:ext cx="908050" cy="415498"/>
          </a:xfrm>
          <a:prstGeom prst="rect">
            <a:avLst/>
          </a:prstGeom>
          <a:noFill/>
        </p:spPr>
        <p:txBody>
          <a:bodyPr wrap="square" rtlCol="0">
            <a:spAutoFit/>
          </a:bodyPr>
          <a:lstStyle/>
          <a:p>
            <a:r>
              <a:rPr lang="en-GB" sz="1050" dirty="0"/>
              <a:t>Bamboo Plant</a:t>
            </a:r>
          </a:p>
        </p:txBody>
      </p:sp>
      <p:sp>
        <p:nvSpPr>
          <p:cNvPr id="24" name="TextBox 23">
            <a:extLst>
              <a:ext uri="{FF2B5EF4-FFF2-40B4-BE49-F238E27FC236}">
                <a16:creationId xmlns:a16="http://schemas.microsoft.com/office/drawing/2014/main" id="{B7EC0C70-582A-AD41-E81E-88E6FD677C0C}"/>
              </a:ext>
            </a:extLst>
          </p:cNvPr>
          <p:cNvSpPr txBox="1"/>
          <p:nvPr/>
        </p:nvSpPr>
        <p:spPr>
          <a:xfrm>
            <a:off x="6932215" y="2821212"/>
            <a:ext cx="908050" cy="184666"/>
          </a:xfrm>
          <a:prstGeom prst="rect">
            <a:avLst/>
          </a:prstGeom>
          <a:noFill/>
        </p:spPr>
        <p:txBody>
          <a:bodyPr wrap="square" rtlCol="0">
            <a:spAutoFit/>
          </a:bodyPr>
          <a:lstStyle/>
          <a:p>
            <a:r>
              <a:rPr lang="en-GB" sz="600" dirty="0"/>
              <a:t>Bottom Ui</a:t>
            </a:r>
          </a:p>
        </p:txBody>
      </p:sp>
      <p:sp>
        <p:nvSpPr>
          <p:cNvPr id="26" name="TextBox 25">
            <a:extLst>
              <a:ext uri="{FF2B5EF4-FFF2-40B4-BE49-F238E27FC236}">
                <a16:creationId xmlns:a16="http://schemas.microsoft.com/office/drawing/2014/main" id="{E00EA51C-5AC9-4C04-BE0A-8BBC0BD674F7}"/>
              </a:ext>
            </a:extLst>
          </p:cNvPr>
          <p:cNvSpPr txBox="1"/>
          <p:nvPr/>
        </p:nvSpPr>
        <p:spPr>
          <a:xfrm>
            <a:off x="692150" y="4251325"/>
            <a:ext cx="736600" cy="200055"/>
          </a:xfrm>
          <a:prstGeom prst="rect">
            <a:avLst/>
          </a:prstGeom>
          <a:noFill/>
        </p:spPr>
        <p:txBody>
          <a:bodyPr wrap="square" rtlCol="0">
            <a:spAutoFit/>
          </a:bodyPr>
          <a:lstStyle/>
          <a:p>
            <a:r>
              <a:rPr lang="en-GB" sz="700" dirty="0"/>
              <a:t>Text</a:t>
            </a:r>
          </a:p>
        </p:txBody>
      </p:sp>
      <p:sp>
        <p:nvSpPr>
          <p:cNvPr id="27" name="TextBox 26">
            <a:extLst>
              <a:ext uri="{FF2B5EF4-FFF2-40B4-BE49-F238E27FC236}">
                <a16:creationId xmlns:a16="http://schemas.microsoft.com/office/drawing/2014/main" id="{5F15B34A-9595-C094-7287-54F04C7D28EF}"/>
              </a:ext>
            </a:extLst>
          </p:cNvPr>
          <p:cNvSpPr txBox="1"/>
          <p:nvPr/>
        </p:nvSpPr>
        <p:spPr>
          <a:xfrm>
            <a:off x="688047" y="4625144"/>
            <a:ext cx="736600" cy="200055"/>
          </a:xfrm>
          <a:prstGeom prst="rect">
            <a:avLst/>
          </a:prstGeom>
          <a:noFill/>
        </p:spPr>
        <p:txBody>
          <a:bodyPr wrap="square" rtlCol="0">
            <a:spAutoFit/>
          </a:bodyPr>
          <a:lstStyle/>
          <a:p>
            <a:r>
              <a:rPr lang="en-GB" sz="700" dirty="0"/>
              <a:t>Slider</a:t>
            </a:r>
          </a:p>
        </p:txBody>
      </p:sp>
      <p:sp>
        <p:nvSpPr>
          <p:cNvPr id="28" name="TextBox 27">
            <a:extLst>
              <a:ext uri="{FF2B5EF4-FFF2-40B4-BE49-F238E27FC236}">
                <a16:creationId xmlns:a16="http://schemas.microsoft.com/office/drawing/2014/main" id="{D3E7A4C7-1EE1-625C-E8E9-8D26B62CF158}"/>
              </a:ext>
            </a:extLst>
          </p:cNvPr>
          <p:cNvSpPr txBox="1"/>
          <p:nvPr/>
        </p:nvSpPr>
        <p:spPr>
          <a:xfrm>
            <a:off x="688047" y="4798021"/>
            <a:ext cx="736600" cy="200055"/>
          </a:xfrm>
          <a:prstGeom prst="rect">
            <a:avLst/>
          </a:prstGeom>
          <a:noFill/>
        </p:spPr>
        <p:txBody>
          <a:bodyPr wrap="square" rtlCol="0">
            <a:spAutoFit/>
          </a:bodyPr>
          <a:lstStyle/>
          <a:p>
            <a:r>
              <a:rPr lang="en-GB" sz="700" dirty="0"/>
              <a:t>Slider</a:t>
            </a:r>
          </a:p>
        </p:txBody>
      </p:sp>
      <p:sp>
        <p:nvSpPr>
          <p:cNvPr id="29" name="TextBox 28">
            <a:extLst>
              <a:ext uri="{FF2B5EF4-FFF2-40B4-BE49-F238E27FC236}">
                <a16:creationId xmlns:a16="http://schemas.microsoft.com/office/drawing/2014/main" id="{5EB4EE94-9AD6-BCC0-A5CA-781FE56F4DE1}"/>
              </a:ext>
            </a:extLst>
          </p:cNvPr>
          <p:cNvSpPr txBox="1"/>
          <p:nvPr/>
        </p:nvSpPr>
        <p:spPr>
          <a:xfrm>
            <a:off x="724551" y="5084959"/>
            <a:ext cx="736600" cy="200055"/>
          </a:xfrm>
          <a:prstGeom prst="rect">
            <a:avLst/>
          </a:prstGeom>
          <a:noFill/>
        </p:spPr>
        <p:txBody>
          <a:bodyPr wrap="square" rtlCol="0">
            <a:spAutoFit/>
          </a:bodyPr>
          <a:lstStyle/>
          <a:p>
            <a:r>
              <a:rPr lang="en-GB" sz="700" dirty="0"/>
              <a:t>Toggles</a:t>
            </a:r>
          </a:p>
        </p:txBody>
      </p:sp>
      <p:sp>
        <p:nvSpPr>
          <p:cNvPr id="30" name="TextBox 29">
            <a:extLst>
              <a:ext uri="{FF2B5EF4-FFF2-40B4-BE49-F238E27FC236}">
                <a16:creationId xmlns:a16="http://schemas.microsoft.com/office/drawing/2014/main" id="{BBFB21F7-C49A-9F22-3745-8AC51524B947}"/>
              </a:ext>
            </a:extLst>
          </p:cNvPr>
          <p:cNvSpPr txBox="1"/>
          <p:nvPr/>
        </p:nvSpPr>
        <p:spPr>
          <a:xfrm>
            <a:off x="688047" y="5285014"/>
            <a:ext cx="736600" cy="200055"/>
          </a:xfrm>
          <a:prstGeom prst="rect">
            <a:avLst/>
          </a:prstGeom>
          <a:noFill/>
        </p:spPr>
        <p:txBody>
          <a:bodyPr wrap="square" rtlCol="0">
            <a:spAutoFit/>
          </a:bodyPr>
          <a:lstStyle/>
          <a:p>
            <a:r>
              <a:rPr lang="en-GB" sz="700" dirty="0"/>
              <a:t>Toggles</a:t>
            </a:r>
          </a:p>
        </p:txBody>
      </p:sp>
      <p:sp>
        <p:nvSpPr>
          <p:cNvPr id="31" name="TextBox 30">
            <a:extLst>
              <a:ext uri="{FF2B5EF4-FFF2-40B4-BE49-F238E27FC236}">
                <a16:creationId xmlns:a16="http://schemas.microsoft.com/office/drawing/2014/main" id="{96ED5737-D0FE-F10D-8C96-BF152DC3CC56}"/>
              </a:ext>
            </a:extLst>
          </p:cNvPr>
          <p:cNvSpPr txBox="1"/>
          <p:nvPr/>
        </p:nvSpPr>
        <p:spPr>
          <a:xfrm>
            <a:off x="858760" y="5522716"/>
            <a:ext cx="736600" cy="200055"/>
          </a:xfrm>
          <a:prstGeom prst="rect">
            <a:avLst/>
          </a:prstGeom>
          <a:noFill/>
        </p:spPr>
        <p:txBody>
          <a:bodyPr wrap="square" rtlCol="0">
            <a:spAutoFit/>
          </a:bodyPr>
          <a:lstStyle/>
          <a:p>
            <a:r>
              <a:rPr lang="en-GB" sz="700" dirty="0"/>
              <a:t>Back</a:t>
            </a:r>
          </a:p>
        </p:txBody>
      </p:sp>
      <p:sp>
        <p:nvSpPr>
          <p:cNvPr id="34" name="TextBox 33">
            <a:extLst>
              <a:ext uri="{FF2B5EF4-FFF2-40B4-BE49-F238E27FC236}">
                <a16:creationId xmlns:a16="http://schemas.microsoft.com/office/drawing/2014/main" id="{958940BE-EBF8-14F0-C642-440C2882B2B9}"/>
              </a:ext>
            </a:extLst>
          </p:cNvPr>
          <p:cNvSpPr txBox="1"/>
          <p:nvPr/>
        </p:nvSpPr>
        <p:spPr>
          <a:xfrm>
            <a:off x="7103665" y="3924754"/>
            <a:ext cx="736600" cy="200055"/>
          </a:xfrm>
          <a:prstGeom prst="rect">
            <a:avLst/>
          </a:prstGeom>
          <a:noFill/>
        </p:spPr>
        <p:txBody>
          <a:bodyPr wrap="square" rtlCol="0">
            <a:spAutoFit/>
          </a:bodyPr>
          <a:lstStyle/>
          <a:p>
            <a:r>
              <a:rPr lang="en-GB" sz="700" dirty="0"/>
              <a:t>Text</a:t>
            </a:r>
          </a:p>
        </p:txBody>
      </p:sp>
      <p:sp>
        <p:nvSpPr>
          <p:cNvPr id="35" name="TextBox 34">
            <a:extLst>
              <a:ext uri="{FF2B5EF4-FFF2-40B4-BE49-F238E27FC236}">
                <a16:creationId xmlns:a16="http://schemas.microsoft.com/office/drawing/2014/main" id="{68397E98-1A6E-B0FA-CCE3-9625B4EC3F61}"/>
              </a:ext>
            </a:extLst>
          </p:cNvPr>
          <p:cNvSpPr txBox="1"/>
          <p:nvPr/>
        </p:nvSpPr>
        <p:spPr>
          <a:xfrm>
            <a:off x="6842125" y="4472194"/>
            <a:ext cx="736600" cy="200055"/>
          </a:xfrm>
          <a:prstGeom prst="rect">
            <a:avLst/>
          </a:prstGeom>
          <a:noFill/>
        </p:spPr>
        <p:txBody>
          <a:bodyPr wrap="square" rtlCol="0">
            <a:spAutoFit/>
          </a:bodyPr>
          <a:lstStyle/>
          <a:p>
            <a:r>
              <a:rPr lang="en-GB" sz="700" dirty="0"/>
              <a:t>Upgrades</a:t>
            </a:r>
          </a:p>
        </p:txBody>
      </p:sp>
      <p:sp>
        <p:nvSpPr>
          <p:cNvPr id="36" name="TextBox 35">
            <a:extLst>
              <a:ext uri="{FF2B5EF4-FFF2-40B4-BE49-F238E27FC236}">
                <a16:creationId xmlns:a16="http://schemas.microsoft.com/office/drawing/2014/main" id="{892FA8D8-4BF2-9773-4350-D12B0E006EA1}"/>
              </a:ext>
            </a:extLst>
          </p:cNvPr>
          <p:cNvSpPr txBox="1"/>
          <p:nvPr/>
        </p:nvSpPr>
        <p:spPr>
          <a:xfrm>
            <a:off x="7503715" y="4197504"/>
            <a:ext cx="736600" cy="200055"/>
          </a:xfrm>
          <a:prstGeom prst="rect">
            <a:avLst/>
          </a:prstGeom>
          <a:noFill/>
        </p:spPr>
        <p:txBody>
          <a:bodyPr wrap="square" rtlCol="0">
            <a:spAutoFit/>
          </a:bodyPr>
          <a:lstStyle/>
          <a:p>
            <a:r>
              <a:rPr lang="en-GB" sz="700" dirty="0"/>
              <a:t>buy</a:t>
            </a:r>
          </a:p>
        </p:txBody>
      </p:sp>
      <p:sp>
        <p:nvSpPr>
          <p:cNvPr id="37" name="TextBox 36">
            <a:extLst>
              <a:ext uri="{FF2B5EF4-FFF2-40B4-BE49-F238E27FC236}">
                <a16:creationId xmlns:a16="http://schemas.microsoft.com/office/drawing/2014/main" id="{BBD3BDA7-0BFD-3FB4-ABAF-89399BEF8AED}"/>
              </a:ext>
            </a:extLst>
          </p:cNvPr>
          <p:cNvSpPr txBox="1"/>
          <p:nvPr/>
        </p:nvSpPr>
        <p:spPr>
          <a:xfrm>
            <a:off x="7503715" y="4432317"/>
            <a:ext cx="736600" cy="200055"/>
          </a:xfrm>
          <a:prstGeom prst="rect">
            <a:avLst/>
          </a:prstGeom>
          <a:noFill/>
        </p:spPr>
        <p:txBody>
          <a:bodyPr wrap="square" rtlCol="0">
            <a:spAutoFit/>
          </a:bodyPr>
          <a:lstStyle/>
          <a:p>
            <a:r>
              <a:rPr lang="en-GB" sz="700" dirty="0"/>
              <a:t>buy</a:t>
            </a:r>
          </a:p>
        </p:txBody>
      </p:sp>
      <p:sp>
        <p:nvSpPr>
          <p:cNvPr id="38" name="TextBox 37">
            <a:extLst>
              <a:ext uri="{FF2B5EF4-FFF2-40B4-BE49-F238E27FC236}">
                <a16:creationId xmlns:a16="http://schemas.microsoft.com/office/drawing/2014/main" id="{866DFED0-5457-68FE-DC7B-A5131A375EEA}"/>
              </a:ext>
            </a:extLst>
          </p:cNvPr>
          <p:cNvSpPr txBox="1"/>
          <p:nvPr/>
        </p:nvSpPr>
        <p:spPr>
          <a:xfrm>
            <a:off x="7503715" y="4679666"/>
            <a:ext cx="736600" cy="200055"/>
          </a:xfrm>
          <a:prstGeom prst="rect">
            <a:avLst/>
          </a:prstGeom>
          <a:noFill/>
        </p:spPr>
        <p:txBody>
          <a:bodyPr wrap="square" rtlCol="0">
            <a:spAutoFit/>
          </a:bodyPr>
          <a:lstStyle/>
          <a:p>
            <a:r>
              <a:rPr lang="en-GB" sz="700" dirty="0"/>
              <a:t>buy</a:t>
            </a:r>
          </a:p>
        </p:txBody>
      </p:sp>
      <p:sp>
        <p:nvSpPr>
          <p:cNvPr id="39" name="TextBox 38">
            <a:extLst>
              <a:ext uri="{FF2B5EF4-FFF2-40B4-BE49-F238E27FC236}">
                <a16:creationId xmlns:a16="http://schemas.microsoft.com/office/drawing/2014/main" id="{5DB29BF2-0371-6E1B-15CF-B1D363FF1475}"/>
              </a:ext>
            </a:extLst>
          </p:cNvPr>
          <p:cNvSpPr txBox="1"/>
          <p:nvPr/>
        </p:nvSpPr>
        <p:spPr>
          <a:xfrm>
            <a:off x="7503715" y="4899649"/>
            <a:ext cx="736600" cy="200055"/>
          </a:xfrm>
          <a:prstGeom prst="rect">
            <a:avLst/>
          </a:prstGeom>
          <a:noFill/>
        </p:spPr>
        <p:txBody>
          <a:bodyPr wrap="square" rtlCol="0">
            <a:spAutoFit/>
          </a:bodyPr>
          <a:lstStyle/>
          <a:p>
            <a:r>
              <a:rPr lang="en-GB" sz="700" dirty="0"/>
              <a:t>buy</a:t>
            </a:r>
          </a:p>
        </p:txBody>
      </p:sp>
      <p:sp>
        <p:nvSpPr>
          <p:cNvPr id="40" name="TextBox 39">
            <a:extLst>
              <a:ext uri="{FF2B5EF4-FFF2-40B4-BE49-F238E27FC236}">
                <a16:creationId xmlns:a16="http://schemas.microsoft.com/office/drawing/2014/main" id="{BFD25327-59E2-0784-8166-C9DFE34F6634}"/>
              </a:ext>
            </a:extLst>
          </p:cNvPr>
          <p:cNvSpPr txBox="1"/>
          <p:nvPr/>
        </p:nvSpPr>
        <p:spPr>
          <a:xfrm>
            <a:off x="7507500" y="5106215"/>
            <a:ext cx="736600" cy="200055"/>
          </a:xfrm>
          <a:prstGeom prst="rect">
            <a:avLst/>
          </a:prstGeom>
          <a:noFill/>
        </p:spPr>
        <p:txBody>
          <a:bodyPr wrap="square" rtlCol="0">
            <a:spAutoFit/>
          </a:bodyPr>
          <a:lstStyle/>
          <a:p>
            <a:r>
              <a:rPr lang="en-GB" sz="700" dirty="0"/>
              <a:t>buy</a:t>
            </a:r>
          </a:p>
        </p:txBody>
      </p:sp>
      <p:sp>
        <p:nvSpPr>
          <p:cNvPr id="41" name="TextBox 40">
            <a:extLst>
              <a:ext uri="{FF2B5EF4-FFF2-40B4-BE49-F238E27FC236}">
                <a16:creationId xmlns:a16="http://schemas.microsoft.com/office/drawing/2014/main" id="{85BCE9F4-103D-72A3-8AF0-20A39935851F}"/>
              </a:ext>
            </a:extLst>
          </p:cNvPr>
          <p:cNvSpPr txBox="1"/>
          <p:nvPr/>
        </p:nvSpPr>
        <p:spPr>
          <a:xfrm>
            <a:off x="7507500" y="5361002"/>
            <a:ext cx="736600" cy="200055"/>
          </a:xfrm>
          <a:prstGeom prst="rect">
            <a:avLst/>
          </a:prstGeom>
          <a:noFill/>
        </p:spPr>
        <p:txBody>
          <a:bodyPr wrap="square" rtlCol="0">
            <a:spAutoFit/>
          </a:bodyPr>
          <a:lstStyle/>
          <a:p>
            <a:r>
              <a:rPr lang="en-GB" sz="700" dirty="0"/>
              <a:t>buy</a:t>
            </a:r>
          </a:p>
        </p:txBody>
      </p:sp>
      <p:sp>
        <p:nvSpPr>
          <p:cNvPr id="42" name="TextBox 41">
            <a:extLst>
              <a:ext uri="{FF2B5EF4-FFF2-40B4-BE49-F238E27FC236}">
                <a16:creationId xmlns:a16="http://schemas.microsoft.com/office/drawing/2014/main" id="{65DF2857-11B2-37C2-166C-72C053EB7AE6}"/>
              </a:ext>
            </a:extLst>
          </p:cNvPr>
          <p:cNvSpPr txBox="1"/>
          <p:nvPr/>
        </p:nvSpPr>
        <p:spPr>
          <a:xfrm>
            <a:off x="7146130" y="5658855"/>
            <a:ext cx="736600" cy="200055"/>
          </a:xfrm>
          <a:prstGeom prst="rect">
            <a:avLst/>
          </a:prstGeom>
          <a:noFill/>
        </p:spPr>
        <p:txBody>
          <a:bodyPr wrap="square" rtlCol="0">
            <a:spAutoFit/>
          </a:bodyPr>
          <a:lstStyle/>
          <a:p>
            <a:r>
              <a:rPr lang="en-GB" sz="700" dirty="0"/>
              <a:t>back</a:t>
            </a:r>
          </a:p>
        </p:txBody>
      </p:sp>
      <p:pic>
        <p:nvPicPr>
          <p:cNvPr id="25" name="Picture 24">
            <a:extLst>
              <a:ext uri="{FF2B5EF4-FFF2-40B4-BE49-F238E27FC236}">
                <a16:creationId xmlns:a16="http://schemas.microsoft.com/office/drawing/2014/main" id="{5809D9CE-F229-93CF-474C-A3D0092634B0}"/>
              </a:ext>
            </a:extLst>
          </p:cNvPr>
          <p:cNvPicPr>
            <a:picLocks noChangeAspect="1"/>
          </p:cNvPicPr>
          <p:nvPr/>
        </p:nvPicPr>
        <p:blipFill>
          <a:blip r:embed="rId3"/>
          <a:stretch>
            <a:fillRect/>
          </a:stretch>
        </p:blipFill>
        <p:spPr>
          <a:xfrm>
            <a:off x="719479" y="1480678"/>
            <a:ext cx="2467319" cy="4534533"/>
          </a:xfrm>
          <a:prstGeom prst="rect">
            <a:avLst/>
          </a:prstGeom>
        </p:spPr>
      </p:pic>
      <p:pic>
        <p:nvPicPr>
          <p:cNvPr id="43" name="Picture 42">
            <a:extLst>
              <a:ext uri="{FF2B5EF4-FFF2-40B4-BE49-F238E27FC236}">
                <a16:creationId xmlns:a16="http://schemas.microsoft.com/office/drawing/2014/main" id="{2F0F3087-AF22-E7BD-9BAF-77AFBF9041A7}"/>
              </a:ext>
            </a:extLst>
          </p:cNvPr>
          <p:cNvPicPr>
            <a:picLocks noChangeAspect="1"/>
          </p:cNvPicPr>
          <p:nvPr/>
        </p:nvPicPr>
        <p:blipFill>
          <a:blip r:embed="rId4"/>
          <a:stretch>
            <a:fillRect/>
          </a:stretch>
        </p:blipFill>
        <p:spPr>
          <a:xfrm>
            <a:off x="4866436" y="1471152"/>
            <a:ext cx="2448267" cy="4544059"/>
          </a:xfrm>
          <a:prstGeom prst="rect">
            <a:avLst/>
          </a:prstGeom>
        </p:spPr>
      </p:pic>
      <p:pic>
        <p:nvPicPr>
          <p:cNvPr id="45" name="Picture 44">
            <a:extLst>
              <a:ext uri="{FF2B5EF4-FFF2-40B4-BE49-F238E27FC236}">
                <a16:creationId xmlns:a16="http://schemas.microsoft.com/office/drawing/2014/main" id="{47D9CFB2-C869-7186-0F0E-979EC94F9CF1}"/>
              </a:ext>
            </a:extLst>
          </p:cNvPr>
          <p:cNvPicPr>
            <a:picLocks noChangeAspect="1"/>
          </p:cNvPicPr>
          <p:nvPr/>
        </p:nvPicPr>
        <p:blipFill>
          <a:blip r:embed="rId5"/>
          <a:stretch>
            <a:fillRect/>
          </a:stretch>
        </p:blipFill>
        <p:spPr>
          <a:xfrm>
            <a:off x="8844380" y="1568450"/>
            <a:ext cx="2438740" cy="4553585"/>
          </a:xfrm>
          <a:prstGeom prst="rect">
            <a:avLst/>
          </a:prstGeom>
        </p:spPr>
      </p:pic>
    </p:spTree>
    <p:extLst>
      <p:ext uri="{BB962C8B-B14F-4D97-AF65-F5344CB8AC3E}">
        <p14:creationId xmlns:p14="http://schemas.microsoft.com/office/powerpoint/2010/main" val="2198894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0848F-1854-337B-F9C6-BAC97DA98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A9D08-D6F7-DA7A-8C3C-762D7AF7440D}"/>
              </a:ext>
            </a:extLst>
          </p:cNvPr>
          <p:cNvSpPr>
            <a:spLocks noGrp="1"/>
          </p:cNvSpPr>
          <p:nvPr>
            <p:ph type="title"/>
          </p:nvPr>
        </p:nvSpPr>
        <p:spPr>
          <a:xfrm>
            <a:off x="838200" y="5509419"/>
            <a:ext cx="4082142" cy="585788"/>
          </a:xfrm>
        </p:spPr>
        <p:txBody>
          <a:bodyPr rtlCol="0">
            <a:normAutofit fontScale="90000"/>
          </a:bodyPr>
          <a:lstStyle/>
          <a:p>
            <a:pPr rtl="0"/>
            <a:r>
              <a:rPr lang="en-GB" dirty="0"/>
              <a:t>Features to be added</a:t>
            </a:r>
          </a:p>
        </p:txBody>
      </p:sp>
      <p:sp>
        <p:nvSpPr>
          <p:cNvPr id="3" name="Content Placeholder 2">
            <a:extLst>
              <a:ext uri="{FF2B5EF4-FFF2-40B4-BE49-F238E27FC236}">
                <a16:creationId xmlns:a16="http://schemas.microsoft.com/office/drawing/2014/main" id="{CE6B65BF-5D77-1F66-BEEA-9D9165C0BE65}"/>
              </a:ext>
            </a:extLst>
          </p:cNvPr>
          <p:cNvSpPr>
            <a:spLocks noGrp="1"/>
          </p:cNvSpPr>
          <p:nvPr>
            <p:ph type="body" sz="quarter" idx="13"/>
          </p:nvPr>
        </p:nvSpPr>
        <p:spPr>
          <a:xfrm>
            <a:off x="148318" y="1481138"/>
            <a:ext cx="2141764" cy="514350"/>
          </a:xfrm>
        </p:spPr>
        <p:txBody>
          <a:bodyPr vert="horz" lIns="91440" tIns="45720" rIns="91440" bIns="45720" rtlCol="0" anchor="ctr">
            <a:normAutofit/>
          </a:bodyPr>
          <a:lstStyle/>
          <a:p>
            <a:pPr rtl="0"/>
            <a:r>
              <a:rPr lang="en-GB" dirty="0" err="1"/>
              <a:t>Cinemachine</a:t>
            </a:r>
            <a:endParaRPr lang="en-GB" dirty="0"/>
          </a:p>
        </p:txBody>
      </p:sp>
      <p:sp>
        <p:nvSpPr>
          <p:cNvPr id="4" name="Text Placeholder 3">
            <a:extLst>
              <a:ext uri="{FF2B5EF4-FFF2-40B4-BE49-F238E27FC236}">
                <a16:creationId xmlns:a16="http://schemas.microsoft.com/office/drawing/2014/main" id="{A9780FA0-AE95-7D44-2A9B-368B21A11435}"/>
              </a:ext>
            </a:extLst>
          </p:cNvPr>
          <p:cNvSpPr>
            <a:spLocks noGrp="1"/>
          </p:cNvSpPr>
          <p:nvPr>
            <p:ph type="body" sz="quarter" idx="14"/>
          </p:nvPr>
        </p:nvSpPr>
        <p:spPr>
          <a:xfrm>
            <a:off x="714375" y="2557463"/>
            <a:ext cx="2141764" cy="514350"/>
          </a:xfrm>
        </p:spPr>
        <p:txBody>
          <a:bodyPr rtlCol="0"/>
          <a:lstStyle/>
          <a:p>
            <a:pPr rtl="0"/>
            <a:r>
              <a:rPr lang="en-GB" dirty="0"/>
              <a:t>Unity monetisation</a:t>
            </a:r>
          </a:p>
        </p:txBody>
      </p:sp>
      <p:sp>
        <p:nvSpPr>
          <p:cNvPr id="5" name="Text Placeholder 4">
            <a:extLst>
              <a:ext uri="{FF2B5EF4-FFF2-40B4-BE49-F238E27FC236}">
                <a16:creationId xmlns:a16="http://schemas.microsoft.com/office/drawing/2014/main" id="{C8E43480-0631-96C8-8BF1-A00B04E92E73}"/>
              </a:ext>
            </a:extLst>
          </p:cNvPr>
          <p:cNvSpPr>
            <a:spLocks noGrp="1"/>
          </p:cNvSpPr>
          <p:nvPr>
            <p:ph type="body" sz="quarter" idx="15"/>
          </p:nvPr>
        </p:nvSpPr>
        <p:spPr>
          <a:xfrm>
            <a:off x="714375" y="3633788"/>
            <a:ext cx="2748189" cy="514350"/>
          </a:xfrm>
        </p:spPr>
        <p:txBody>
          <a:bodyPr rtlCol="0"/>
          <a:lstStyle/>
          <a:p>
            <a:pPr rtl="0"/>
            <a:r>
              <a:rPr lang="en-GB" dirty="0"/>
              <a:t>Google play service</a:t>
            </a:r>
          </a:p>
        </p:txBody>
      </p:sp>
      <p:sp>
        <p:nvSpPr>
          <p:cNvPr id="6" name="Text Placeholder 5">
            <a:extLst>
              <a:ext uri="{FF2B5EF4-FFF2-40B4-BE49-F238E27FC236}">
                <a16:creationId xmlns:a16="http://schemas.microsoft.com/office/drawing/2014/main" id="{48A6C99B-A967-A961-14BD-1225015BC14C}"/>
              </a:ext>
            </a:extLst>
          </p:cNvPr>
          <p:cNvSpPr>
            <a:spLocks noGrp="1"/>
          </p:cNvSpPr>
          <p:nvPr>
            <p:ph type="body" sz="quarter" idx="16"/>
          </p:nvPr>
        </p:nvSpPr>
        <p:spPr>
          <a:xfrm>
            <a:off x="1905000" y="4710114"/>
            <a:ext cx="2141764" cy="514350"/>
          </a:xfrm>
        </p:spPr>
        <p:txBody>
          <a:bodyPr rtlCol="0"/>
          <a:lstStyle/>
          <a:p>
            <a:pPr rtl="0"/>
            <a:r>
              <a:rPr lang="en-GB" dirty="0"/>
              <a:t>Gyroscope</a:t>
            </a:r>
          </a:p>
        </p:txBody>
      </p:sp>
      <p:sp>
        <p:nvSpPr>
          <p:cNvPr id="7" name="Text Placeholder 6">
            <a:extLst>
              <a:ext uri="{FF2B5EF4-FFF2-40B4-BE49-F238E27FC236}">
                <a16:creationId xmlns:a16="http://schemas.microsoft.com/office/drawing/2014/main" id="{D51CE754-B4AA-48F9-1830-763B92F21B08}"/>
              </a:ext>
            </a:extLst>
          </p:cNvPr>
          <p:cNvSpPr>
            <a:spLocks noGrp="1"/>
          </p:cNvSpPr>
          <p:nvPr>
            <p:ph type="body" sz="quarter" idx="17"/>
          </p:nvPr>
        </p:nvSpPr>
        <p:spPr>
          <a:xfrm>
            <a:off x="4401535" y="1594478"/>
            <a:ext cx="5539095" cy="1010842"/>
          </a:xfrm>
        </p:spPr>
        <p:txBody>
          <a:bodyPr rtlCol="0">
            <a:normAutofit/>
          </a:bodyPr>
          <a:lstStyle/>
          <a:p>
            <a:pPr rtl="0"/>
            <a:r>
              <a:rPr lang="en-GB" dirty="0"/>
              <a:t>Going to use dynamic camera to switch between scenes rather than have a sudden transition to the Ui.</a:t>
            </a:r>
          </a:p>
        </p:txBody>
      </p:sp>
      <p:sp>
        <p:nvSpPr>
          <p:cNvPr id="8" name="Text Placeholder 7">
            <a:extLst>
              <a:ext uri="{FF2B5EF4-FFF2-40B4-BE49-F238E27FC236}">
                <a16:creationId xmlns:a16="http://schemas.microsoft.com/office/drawing/2014/main" id="{48B8F350-8618-E79F-682B-431ABBCB32DE}"/>
              </a:ext>
            </a:extLst>
          </p:cNvPr>
          <p:cNvSpPr>
            <a:spLocks noGrp="1"/>
          </p:cNvSpPr>
          <p:nvPr>
            <p:ph type="body" sz="quarter" idx="18"/>
          </p:nvPr>
        </p:nvSpPr>
        <p:spPr>
          <a:xfrm>
            <a:off x="4986028" y="2673328"/>
            <a:ext cx="5539095" cy="1010842"/>
          </a:xfrm>
        </p:spPr>
        <p:txBody>
          <a:bodyPr rtlCol="0"/>
          <a:lstStyle/>
          <a:p>
            <a:r>
              <a:rPr lang="en-GB" dirty="0"/>
              <a:t>Going to implement ad breaks every so often .</a:t>
            </a:r>
          </a:p>
        </p:txBody>
      </p:sp>
      <p:sp>
        <p:nvSpPr>
          <p:cNvPr id="9" name="Text Placeholder 8">
            <a:extLst>
              <a:ext uri="{FF2B5EF4-FFF2-40B4-BE49-F238E27FC236}">
                <a16:creationId xmlns:a16="http://schemas.microsoft.com/office/drawing/2014/main" id="{2058161D-FCD9-E633-E3CA-CD75DE845394}"/>
              </a:ext>
            </a:extLst>
          </p:cNvPr>
          <p:cNvSpPr>
            <a:spLocks noGrp="1"/>
          </p:cNvSpPr>
          <p:nvPr>
            <p:ph type="body" sz="quarter" idx="19"/>
          </p:nvPr>
        </p:nvSpPr>
        <p:spPr>
          <a:xfrm>
            <a:off x="5576937" y="3755394"/>
            <a:ext cx="5539095" cy="1010842"/>
          </a:xfrm>
        </p:spPr>
        <p:txBody>
          <a:bodyPr rtlCol="0">
            <a:normAutofit/>
          </a:bodyPr>
          <a:lstStyle/>
          <a:p>
            <a:pPr rtl="0"/>
            <a:r>
              <a:rPr lang="en-GB" dirty="0"/>
              <a:t>Going to be used for the achievements.</a:t>
            </a:r>
          </a:p>
        </p:txBody>
      </p:sp>
      <p:sp>
        <p:nvSpPr>
          <p:cNvPr id="10" name="Text Placeholder 9">
            <a:extLst>
              <a:ext uri="{FF2B5EF4-FFF2-40B4-BE49-F238E27FC236}">
                <a16:creationId xmlns:a16="http://schemas.microsoft.com/office/drawing/2014/main" id="{D0796605-70D8-8F77-B651-469540CDDDC4}"/>
              </a:ext>
            </a:extLst>
          </p:cNvPr>
          <p:cNvSpPr>
            <a:spLocks noGrp="1"/>
          </p:cNvSpPr>
          <p:nvPr>
            <p:ph type="body" sz="quarter" idx="20"/>
          </p:nvPr>
        </p:nvSpPr>
        <p:spPr>
          <a:xfrm>
            <a:off x="6175279" y="4824430"/>
            <a:ext cx="5539095" cy="1010842"/>
          </a:xfrm>
        </p:spPr>
        <p:txBody>
          <a:bodyPr rtlCol="0"/>
          <a:lstStyle/>
          <a:p>
            <a:pPr rtl="0"/>
            <a:r>
              <a:rPr lang="en-GB" dirty="0"/>
              <a:t>Going to use gyroscope to add swaying to the bamboo plant.</a:t>
            </a:r>
          </a:p>
        </p:txBody>
      </p:sp>
      <p:sp>
        <p:nvSpPr>
          <p:cNvPr id="11" name="Date Placeholder 10">
            <a:extLst>
              <a:ext uri="{FF2B5EF4-FFF2-40B4-BE49-F238E27FC236}">
                <a16:creationId xmlns:a16="http://schemas.microsoft.com/office/drawing/2014/main" id="{A4B966A6-18B8-8ECA-68E7-EEB343C6516A}"/>
              </a:ext>
            </a:extLst>
          </p:cNvPr>
          <p:cNvSpPr>
            <a:spLocks noGrp="1"/>
          </p:cNvSpPr>
          <p:nvPr>
            <p:ph type="dt" sz="half" idx="10"/>
          </p:nvPr>
        </p:nvSpPr>
        <p:spPr>
          <a:xfrm>
            <a:off x="838200" y="6356350"/>
            <a:ext cx="2743200" cy="365125"/>
          </a:xfrm>
        </p:spPr>
        <p:txBody>
          <a:bodyPr rtlCol="0"/>
          <a:lstStyle/>
          <a:p>
            <a:pPr rtl="0"/>
            <a:r>
              <a:rPr lang="en-GB"/>
              <a:t>20XX</a:t>
            </a:r>
          </a:p>
        </p:txBody>
      </p:sp>
      <p:sp>
        <p:nvSpPr>
          <p:cNvPr id="80" name="Footer Placeholder 79">
            <a:extLst>
              <a:ext uri="{FF2B5EF4-FFF2-40B4-BE49-F238E27FC236}">
                <a16:creationId xmlns:a16="http://schemas.microsoft.com/office/drawing/2014/main" id="{9D5F285A-E4AA-C3E0-21FA-13EDA543AF01}"/>
              </a:ext>
            </a:extLst>
          </p:cNvPr>
          <p:cNvSpPr>
            <a:spLocks noGrp="1"/>
          </p:cNvSpPr>
          <p:nvPr>
            <p:ph type="ftr" sz="quarter" idx="11"/>
          </p:nvPr>
        </p:nvSpPr>
        <p:spPr>
          <a:xfrm>
            <a:off x="6175279" y="6356350"/>
            <a:ext cx="1808712" cy="365125"/>
          </a:xfrm>
        </p:spPr>
        <p:txBody>
          <a:bodyPr rtlCol="0"/>
          <a:lstStyle/>
          <a:p>
            <a:pPr rtl="0"/>
            <a:r>
              <a:rPr lang="en-GB"/>
              <a:t>Pitch Deck</a:t>
            </a:r>
          </a:p>
        </p:txBody>
      </p:sp>
      <p:sp>
        <p:nvSpPr>
          <p:cNvPr id="13" name="Slide Number Placeholder 12">
            <a:extLst>
              <a:ext uri="{FF2B5EF4-FFF2-40B4-BE49-F238E27FC236}">
                <a16:creationId xmlns:a16="http://schemas.microsoft.com/office/drawing/2014/main" id="{E6E265D3-E439-7D54-7C45-5C6A29E51E01}"/>
              </a:ext>
            </a:extLst>
          </p:cNvPr>
          <p:cNvSpPr>
            <a:spLocks noGrp="1"/>
          </p:cNvSpPr>
          <p:nvPr>
            <p:ph type="sldNum" sz="quarter" idx="12"/>
          </p:nvPr>
        </p:nvSpPr>
        <p:spPr>
          <a:xfrm>
            <a:off x="10810874" y="6356350"/>
            <a:ext cx="542925" cy="365125"/>
          </a:xfrm>
        </p:spPr>
        <p:txBody>
          <a:bodyPr rtlCol="0"/>
          <a:lstStyle/>
          <a:p>
            <a:pPr rtl="0"/>
            <a:fld id="{B5CEABB6-07DC-46E8-9B57-56EC44A396E5}" type="slidenum">
              <a:rPr lang="en-GB" smtClean="0"/>
              <a:pPr rtl="0"/>
              <a:t>17</a:t>
            </a:fld>
            <a:endParaRPr lang="en-GB"/>
          </a:p>
        </p:txBody>
      </p:sp>
    </p:spTree>
    <p:extLst>
      <p:ext uri="{BB962C8B-B14F-4D97-AF65-F5344CB8AC3E}">
        <p14:creationId xmlns:p14="http://schemas.microsoft.com/office/powerpoint/2010/main" val="1481113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5920169" y="1152771"/>
            <a:ext cx="5431971" cy="846301"/>
          </a:xfrm>
        </p:spPr>
        <p:txBody>
          <a:bodyPr rtlCol="0"/>
          <a:lstStyle/>
          <a:p>
            <a:pPr rtl="0"/>
            <a:r>
              <a:rPr lang="en-GB" dirty="0"/>
              <a:t>Monetisation</a:t>
            </a:r>
          </a:p>
        </p:txBody>
      </p:sp>
      <p:sp>
        <p:nvSpPr>
          <p:cNvPr id="6" name="Text Placeholder 5">
            <a:extLst>
              <a:ext uri="{FF2B5EF4-FFF2-40B4-BE49-F238E27FC236}">
                <a16:creationId xmlns:a16="http://schemas.microsoft.com/office/drawing/2014/main" id="{7640DF9D-0C9E-4C5D-9635-6B4DE10CCEE5}"/>
              </a:ext>
            </a:extLst>
          </p:cNvPr>
          <p:cNvSpPr>
            <a:spLocks noGrp="1"/>
          </p:cNvSpPr>
          <p:nvPr>
            <p:ph type="body" sz="quarter" idx="13"/>
          </p:nvPr>
        </p:nvSpPr>
        <p:spPr>
          <a:xfrm>
            <a:off x="5922254" y="2469515"/>
            <a:ext cx="5433204" cy="365125"/>
          </a:xfrm>
        </p:spPr>
        <p:txBody>
          <a:bodyPr vert="horz" lIns="91440" tIns="45720" rIns="91440" bIns="45720" rtlCol="0" anchor="t">
            <a:noAutofit/>
          </a:bodyPr>
          <a:lstStyle/>
          <a:p>
            <a:pPr rtl="0"/>
            <a:r>
              <a:rPr lang="en-GB" noProof="1"/>
              <a:t>Free to play</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921828" y="2798940"/>
            <a:ext cx="5431971" cy="557950"/>
          </a:xfrm>
        </p:spPr>
        <p:txBody>
          <a:bodyPr rtlCol="0">
            <a:normAutofit/>
          </a:bodyPr>
          <a:lstStyle/>
          <a:p>
            <a:pPr rtl="0"/>
            <a:r>
              <a:rPr lang="en-GB" noProof="1"/>
              <a:t>Most games that generate a large sum of revenue are free to play (</a:t>
            </a:r>
            <a:r>
              <a:rPr lang="en-GB" noProof="1">
                <a:hlinkClick r:id="rId3"/>
              </a:rPr>
              <a:t>source</a:t>
            </a:r>
            <a:r>
              <a:rPr lang="en-GB" noProof="1"/>
              <a:t>).</a:t>
            </a:r>
          </a:p>
        </p:txBody>
      </p:sp>
      <p:sp>
        <p:nvSpPr>
          <p:cNvPr id="8" name="Text Placeholder 7">
            <a:extLst>
              <a:ext uri="{FF2B5EF4-FFF2-40B4-BE49-F238E27FC236}">
                <a16:creationId xmlns:a16="http://schemas.microsoft.com/office/drawing/2014/main" id="{F5C3A7BE-F7FC-4942-A31A-491A8A806103}"/>
              </a:ext>
            </a:extLst>
          </p:cNvPr>
          <p:cNvSpPr>
            <a:spLocks noGrp="1"/>
          </p:cNvSpPr>
          <p:nvPr>
            <p:ph type="body" sz="quarter" idx="23"/>
          </p:nvPr>
        </p:nvSpPr>
        <p:spPr>
          <a:xfrm>
            <a:off x="5922254" y="3569311"/>
            <a:ext cx="5433204" cy="365125"/>
          </a:xfrm>
        </p:spPr>
        <p:txBody>
          <a:bodyPr vert="horz" lIns="91440" tIns="45720" rIns="91440" bIns="45720" rtlCol="0" anchor="t">
            <a:noAutofit/>
          </a:bodyPr>
          <a:lstStyle/>
          <a:p>
            <a:pPr rtl="0"/>
            <a:r>
              <a:rPr lang="en-GB" noProof="1"/>
              <a:t>In-app purchases</a:t>
            </a:r>
          </a:p>
        </p:txBody>
      </p:sp>
      <p:sp>
        <p:nvSpPr>
          <p:cNvPr id="9" name="Text Placeholder 8">
            <a:extLst>
              <a:ext uri="{FF2B5EF4-FFF2-40B4-BE49-F238E27FC236}">
                <a16:creationId xmlns:a16="http://schemas.microsoft.com/office/drawing/2014/main" id="{95CCE699-03D1-4642-B46A-B14EF17DA183}"/>
              </a:ext>
            </a:extLst>
          </p:cNvPr>
          <p:cNvSpPr>
            <a:spLocks noGrp="1"/>
          </p:cNvSpPr>
          <p:nvPr>
            <p:ph type="body" sz="quarter" idx="24"/>
          </p:nvPr>
        </p:nvSpPr>
        <p:spPr>
          <a:xfrm>
            <a:off x="5921828" y="3898735"/>
            <a:ext cx="5431971" cy="770371"/>
          </a:xfrm>
        </p:spPr>
        <p:txBody>
          <a:bodyPr rtlCol="0">
            <a:normAutofit/>
          </a:bodyPr>
          <a:lstStyle/>
          <a:p>
            <a:pPr rtl="0"/>
            <a:r>
              <a:rPr lang="en-GB" noProof="1"/>
              <a:t>Many games use in-app purchases to accelerate player progression. My plan is to use in-app purchases to give player premium upgrades that cannot be bought through free currency.</a:t>
            </a:r>
          </a:p>
        </p:txBody>
      </p:sp>
      <p:sp>
        <p:nvSpPr>
          <p:cNvPr id="10" name="Text Placeholder 9">
            <a:extLst>
              <a:ext uri="{FF2B5EF4-FFF2-40B4-BE49-F238E27FC236}">
                <a16:creationId xmlns:a16="http://schemas.microsoft.com/office/drawing/2014/main" id="{BC1DF189-6F2F-4C21-88CC-C82D3D0D147B}"/>
              </a:ext>
            </a:extLst>
          </p:cNvPr>
          <p:cNvSpPr>
            <a:spLocks noGrp="1"/>
          </p:cNvSpPr>
          <p:nvPr>
            <p:ph type="body" sz="quarter" idx="25"/>
          </p:nvPr>
        </p:nvSpPr>
        <p:spPr>
          <a:xfrm>
            <a:off x="5918936" y="4998530"/>
            <a:ext cx="5433204" cy="365125"/>
          </a:xfrm>
        </p:spPr>
        <p:txBody>
          <a:bodyPr vert="horz" lIns="91440" tIns="45720" rIns="91440" bIns="45720" rtlCol="0" anchor="t">
            <a:normAutofit lnSpcReduction="10000"/>
          </a:bodyPr>
          <a:lstStyle/>
          <a:p>
            <a:pPr rtl="0"/>
            <a:r>
              <a:rPr lang="en-GB" noProof="1"/>
              <a:t>Annoying ads</a:t>
            </a:r>
          </a:p>
        </p:txBody>
      </p:sp>
      <p:sp>
        <p:nvSpPr>
          <p:cNvPr id="5" name="Text Placeholder 4">
            <a:extLst>
              <a:ext uri="{FF2B5EF4-FFF2-40B4-BE49-F238E27FC236}">
                <a16:creationId xmlns:a16="http://schemas.microsoft.com/office/drawing/2014/main" id="{06E82690-B145-4D4F-B2D1-0B2A8C50FD71}"/>
              </a:ext>
            </a:extLst>
          </p:cNvPr>
          <p:cNvSpPr>
            <a:spLocks noGrp="1"/>
          </p:cNvSpPr>
          <p:nvPr>
            <p:ph type="body" sz="quarter" idx="26"/>
          </p:nvPr>
        </p:nvSpPr>
        <p:spPr>
          <a:xfrm>
            <a:off x="5918510" y="5327955"/>
            <a:ext cx="5431971" cy="557950"/>
          </a:xfrm>
        </p:spPr>
        <p:txBody>
          <a:bodyPr rtlCol="0">
            <a:normAutofit/>
          </a:bodyPr>
          <a:lstStyle/>
          <a:p>
            <a:pPr rtl="0"/>
            <a:r>
              <a:rPr lang="en-GB" noProof="1"/>
              <a:t>Planning on having the ads be quite frequent so that the user is more inclined to pay for an one-time payment to disable ads</a:t>
            </a:r>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rtlCol="0"/>
          <a:lstStyle/>
          <a:p>
            <a:pPr rtl="0"/>
            <a:r>
              <a:rPr lang="en-GB"/>
              <a:t>20XX</a:t>
            </a:r>
            <a:endParaRPr lang="en-GB" dirty="0"/>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rtlCol="0"/>
          <a:lstStyle/>
          <a:p>
            <a:pPr rtl="0"/>
            <a:r>
              <a:rPr lang="en-GB"/>
              <a:t>Pitch Deck</a:t>
            </a:r>
            <a:endParaRPr lang="en-GB" dirty="0"/>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18</a:t>
            </a:fld>
            <a:endParaRPr lang="en-GB" dirty="0"/>
          </a:p>
        </p:txBody>
      </p:sp>
    </p:spTree>
    <p:extLst>
      <p:ext uri="{BB962C8B-B14F-4D97-AF65-F5344CB8AC3E}">
        <p14:creationId xmlns:p14="http://schemas.microsoft.com/office/powerpoint/2010/main" val="2069393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139440" cy="1325563"/>
          </a:xfrm>
        </p:spPr>
        <p:txBody>
          <a:bodyPr rtlCol="0"/>
          <a:lstStyle/>
          <a:p>
            <a:pPr rtl="0"/>
            <a:r>
              <a:rPr lang="en-GB" dirty="0"/>
              <a:t>Current limitations</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1530635"/>
            <a:ext cx="5433204" cy="365125"/>
          </a:xfrm>
        </p:spPr>
        <p:txBody>
          <a:bodyPr vert="horz" lIns="91440" tIns="45720" rIns="91440" bIns="45720" rtlCol="0" anchor="t">
            <a:normAutofit lnSpcReduction="10000"/>
          </a:bodyPr>
          <a:lstStyle/>
          <a:p>
            <a:pPr rtl="0"/>
            <a:r>
              <a:rPr lang="en-GB" dirty="0"/>
              <a:t>Placeholder Assets</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5921828" y="1860060"/>
            <a:ext cx="5431971" cy="557950"/>
          </a:xfrm>
        </p:spPr>
        <p:txBody>
          <a:bodyPr rtlCol="0">
            <a:normAutofit/>
          </a:bodyPr>
          <a:lstStyle/>
          <a:p>
            <a:pPr rtl="0"/>
            <a:r>
              <a:rPr lang="en-GB" dirty="0"/>
              <a:t>The assets used in the game now are pretty much all placeholders as I have yet to make any assets for the game.</a:t>
            </a:r>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23"/>
          </p:nvPr>
        </p:nvSpPr>
        <p:spPr>
          <a:xfrm>
            <a:off x="5922254" y="2630431"/>
            <a:ext cx="5433204" cy="365125"/>
          </a:xfrm>
        </p:spPr>
        <p:txBody>
          <a:bodyPr rtlCol="0">
            <a:normAutofit lnSpcReduction="10000"/>
          </a:bodyPr>
          <a:lstStyle/>
          <a:p>
            <a:pPr rtl="0"/>
            <a:r>
              <a:rPr lang="en-GB" dirty="0"/>
              <a:t>No Audio</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24"/>
          </p:nvPr>
        </p:nvSpPr>
        <p:spPr>
          <a:xfrm>
            <a:off x="5921828" y="2959856"/>
            <a:ext cx="5431971" cy="557950"/>
          </a:xfrm>
        </p:spPr>
        <p:txBody>
          <a:bodyPr rtlCol="0"/>
          <a:lstStyle/>
          <a:p>
            <a:pPr rtl="0"/>
            <a:r>
              <a:rPr lang="en-GB" dirty="0"/>
              <a:t>Even though audio systems are implemented, there is no audio but some placeholder audio.</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25"/>
          </p:nvPr>
        </p:nvSpPr>
        <p:spPr>
          <a:xfrm>
            <a:off x="5922254" y="3730227"/>
            <a:ext cx="5433204" cy="365125"/>
          </a:xfrm>
        </p:spPr>
        <p:txBody>
          <a:bodyPr rtlCol="0">
            <a:normAutofit lnSpcReduction="10000"/>
          </a:bodyPr>
          <a:lstStyle/>
          <a:p>
            <a:pPr rtl="0"/>
            <a:r>
              <a:rPr lang="en-GB" dirty="0"/>
              <a:t>No Upgrades or Shop Ui </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26"/>
          </p:nvPr>
        </p:nvSpPr>
        <p:spPr>
          <a:xfrm>
            <a:off x="5921828" y="4059652"/>
            <a:ext cx="5431971" cy="557950"/>
          </a:xfrm>
        </p:spPr>
        <p:txBody>
          <a:bodyPr rtlCol="0"/>
          <a:lstStyle/>
          <a:p>
            <a:pPr rtl="0"/>
            <a:r>
              <a:rPr lang="en-GB" dirty="0"/>
              <a:t>Have not yet started on the upgrades or shop </a:t>
            </a:r>
            <a:r>
              <a:rPr lang="en-GB" dirty="0" err="1"/>
              <a:t>ui</a:t>
            </a:r>
            <a:r>
              <a:rPr lang="en-GB" dirty="0"/>
              <a:t> however the framework is there for it to be implemented.</a:t>
            </a:r>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7"/>
          </p:nvPr>
        </p:nvSpPr>
        <p:spPr>
          <a:xfrm>
            <a:off x="5920106" y="4830024"/>
            <a:ext cx="5433204" cy="365125"/>
          </a:xfrm>
        </p:spPr>
        <p:txBody>
          <a:bodyPr rtlCol="0">
            <a:normAutofit lnSpcReduction="10000"/>
          </a:bodyPr>
          <a:lstStyle/>
          <a:p>
            <a:pPr rtl="0"/>
            <a:r>
              <a:rPr lang="en-GB" dirty="0"/>
              <a:t>No gyro on the plant</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8"/>
          </p:nvPr>
        </p:nvSpPr>
        <p:spPr>
          <a:xfrm>
            <a:off x="5919680" y="5159449"/>
            <a:ext cx="5431971" cy="557950"/>
          </a:xfrm>
        </p:spPr>
        <p:txBody>
          <a:bodyPr rtlCol="0"/>
          <a:lstStyle/>
          <a:p>
            <a:pPr rtl="0"/>
            <a:r>
              <a:rPr lang="en-GB" dirty="0"/>
              <a:t>Have not yet started on gyro in the game so the bamboo plant is yet to move with the phone.</a:t>
            </a:r>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rtlCol="0"/>
          <a:lstStyle/>
          <a:p>
            <a:pPr rtl="0"/>
            <a:r>
              <a:rPr lang="en-GB"/>
              <a:t>20XX</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rtlCol="0"/>
          <a:lstStyle/>
          <a:p>
            <a:pPr rtl="0"/>
            <a:r>
              <a:rPr lang="en-GB"/>
              <a:t>Pitch Deck</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19</a:t>
            </a:fld>
            <a:endParaRPr lang="en-GB"/>
          </a:p>
        </p:txBody>
      </p:sp>
    </p:spTree>
    <p:extLst>
      <p:ext uri="{BB962C8B-B14F-4D97-AF65-F5344CB8AC3E}">
        <p14:creationId xmlns:p14="http://schemas.microsoft.com/office/powerpoint/2010/main" val="1844941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rtlCol="0"/>
          <a:lstStyle/>
          <a:p>
            <a:pPr rtl="0"/>
            <a:r>
              <a:rPr lang="en-GB" dirty="0"/>
              <a:t>Demo</a:t>
            </a:r>
          </a:p>
        </p:txBody>
      </p:sp>
    </p:spTree>
    <p:extLst>
      <p:ext uri="{BB962C8B-B14F-4D97-AF65-F5344CB8AC3E}">
        <p14:creationId xmlns:p14="http://schemas.microsoft.com/office/powerpoint/2010/main" val="707789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n-GB" dirty="0"/>
              <a:t>THANK YOU</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rtlCol="0"/>
          <a:lstStyle/>
          <a:p>
            <a:pPr rtl="0"/>
            <a:r>
              <a:rPr lang="en-GB"/>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rtlCol="0"/>
          <a:lstStyle/>
          <a:p>
            <a:pPr rtl="0"/>
            <a:r>
              <a:rPr lang="en-GB"/>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n-GB" smtClean="0"/>
              <a:pPr rtl="0"/>
              <a:t>21</a:t>
            </a:fld>
            <a:endParaRPr lang="en-GB"/>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419047_TF22318419_Win32" id="{DA6E7C03-7C07-46B9-8D9D-F061C4AB5C28}" vid="{0874F78C-8308-4EE6-8F19-85387B8691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4e6bee01-fae3-4e1c-8f1a-9ed0fe9197f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F0F6E24CBBDF2489BB0C7D787BF1FA9" ma:contentTypeVersion="15" ma:contentTypeDescription="Create a new document." ma:contentTypeScope="" ma:versionID="2d4b1107e0bcd24d879f2e81b4ffe2f7">
  <xsd:schema xmlns:xsd="http://www.w3.org/2001/XMLSchema" xmlns:xs="http://www.w3.org/2001/XMLSchema" xmlns:p="http://schemas.microsoft.com/office/2006/metadata/properties" xmlns:ns3="4e6bee01-fae3-4e1c-8f1a-9ed0fe9197f3" xmlns:ns4="9ebee74b-6c09-439e-a20a-fc6d1b49bd2d" targetNamespace="http://schemas.microsoft.com/office/2006/metadata/properties" ma:root="true" ma:fieldsID="5cc5db8e17a87248a928f297a097d818" ns3:_="" ns4:_="">
    <xsd:import namespace="4e6bee01-fae3-4e1c-8f1a-9ed0fe9197f3"/>
    <xsd:import namespace="9ebee74b-6c09-439e-a20a-fc6d1b49bd2d"/>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AutoTags" minOccurs="0"/>
                <xsd:element ref="ns3:MediaServiceGenerationTime" minOccurs="0"/>
                <xsd:element ref="ns3:MediaServiceEventHashCode" minOccurs="0"/>
                <xsd:element ref="ns3:MediaServiceOCR" minOccurs="0"/>
                <xsd:element ref="ns3:MediaServiceSystemTags" minOccurs="0"/>
                <xsd:element ref="ns3:MediaLengthInSecond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6bee01-fae3-4e1c-8f1a-9ed0fe9197f3"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SystemTags" ma:index="19" nillable="true" ma:displayName="MediaServiceSystemTags" ma:hidden="true" ma:internalName="MediaServiceSystemTag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descriptio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bee74b-6c09-439e-a20a-fc6d1b49bd2d"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446390-8521-40A2-A462-EA068123BED9}">
  <ds:schemaRefs>
    <ds:schemaRef ds:uri="http://schemas.microsoft.com/sharepoint/v3/contenttype/forms"/>
  </ds:schemaRefs>
</ds:datastoreItem>
</file>

<file path=customXml/itemProps2.xml><?xml version="1.0" encoding="utf-8"?>
<ds:datastoreItem xmlns:ds="http://schemas.openxmlformats.org/officeDocument/2006/customXml" ds:itemID="{B5BA3906-9696-4247-AC0D-DD5C26B2A70A}">
  <ds:schemaRefs>
    <ds:schemaRef ds:uri="http://schemas.microsoft.com/office/2006/metadata/properties"/>
    <ds:schemaRef ds:uri="http://www.w3.org/XML/1998/namespace"/>
    <ds:schemaRef ds:uri="http://purl.org/dc/terms/"/>
    <ds:schemaRef ds:uri="http://purl.org/dc/dcmitype/"/>
    <ds:schemaRef ds:uri="4e6bee01-fae3-4e1c-8f1a-9ed0fe9197f3"/>
    <ds:schemaRef ds:uri="9ebee74b-6c09-439e-a20a-fc6d1b49bd2d"/>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448C9D6-AD53-4E65-8C8D-5FB7529933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6bee01-fae3-4e1c-8f1a-9ed0fe9197f3"/>
    <ds:schemaRef ds:uri="9ebee74b-6c09-439e-a20a-fc6d1b49bd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{601D564C-DBD2-4AF5-897A-F8E53FD8FF6B}tf22318419_win32</Template>
  <TotalTime>275</TotalTime>
  <Words>1382</Words>
  <Application>Microsoft Office PowerPoint</Application>
  <PresentationFormat>Widescreen</PresentationFormat>
  <Paragraphs>267</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Tenorite</vt:lpstr>
      <vt:lpstr>Monoline</vt:lpstr>
      <vt:lpstr>Bamboo Breeze</vt:lpstr>
      <vt:lpstr>ABOUT Me</vt:lpstr>
      <vt:lpstr>Past work Examples</vt:lpstr>
      <vt:lpstr>Overview</vt:lpstr>
      <vt:lpstr> About the game</vt:lpstr>
      <vt:lpstr>Project aims</vt:lpstr>
      <vt:lpstr>Gameplay mechanics and objectives</vt:lpstr>
      <vt:lpstr>Current implemented Gameplay features</vt:lpstr>
      <vt:lpstr>Current implemented Gameplay features</vt:lpstr>
      <vt:lpstr>Current implemented Gameplay features</vt:lpstr>
      <vt:lpstr>Code Screenshots</vt:lpstr>
      <vt:lpstr>Market research</vt:lpstr>
      <vt:lpstr>Market research (Cont.)</vt:lpstr>
      <vt:lpstr>Comparison of the Ui from the games</vt:lpstr>
      <vt:lpstr>Drafts of ui</vt:lpstr>
      <vt:lpstr>Current Ui implementation</vt:lpstr>
      <vt:lpstr>Features to be added</vt:lpstr>
      <vt:lpstr>Monetisation</vt:lpstr>
      <vt:lpstr>Current limitations</vt:lpstr>
      <vt:lpstr>Demo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Vennce Bravo</dc:creator>
  <cp:lastModifiedBy>Vennce Bravo</cp:lastModifiedBy>
  <cp:revision>2</cp:revision>
  <dcterms:created xsi:type="dcterms:W3CDTF">2025-10-20T04:22:38Z</dcterms:created>
  <dcterms:modified xsi:type="dcterms:W3CDTF">2025-10-20T08:58:01Z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0x0101008F0F6E24CBBDF2489BB0C7D787BF1FA9</vt:lpwstr>
  </property>
</Properties>
</file>